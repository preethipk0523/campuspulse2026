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379c43-5001-6166-a5a2-8b9c8ffaed79}">
          <p14:sldIdLst>
            <p14:sldId id="256"/>
          </p14:sldIdLst>
        </p14:section>
        <p14:section name="Default-1" id="{c17cd544-4024-5bee-94ff-5b0e8ad0a38e}">
          <p14:sldIdLst>
            <p14:sldId id="257"/>
            <p14:sldId id="258"/>
          </p14:sldIdLst>
        </p14:section>
        <p14:section name="Solution" id="{c3e31295-d0dd-e1e3-cfbe-169b1041fc3d}">
          <p14:sldIdLst>
            <p14:sldId id="259"/>
            <p14:sldId id="260"/>
            <p14:sldId id="261"/>
          </p14:sldIdLst>
        </p14:section>
        <p14:section name="Results" id="{51115a2e-0794-9272-cfad-d008790ffac8}">
          <p14:sldIdLst>
            <p14:sldId id="262"/>
            <p14:sldId id="263"/>
          </p14:sldIdLst>
        </p14:section>
        <p14:section name="Wrap-up" id="{2d80b547-5743-2e45-d200-4982d5fb811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n-lt"/>
              </a:defRPr>
            </a:pPr>
            <a:r>
              <a:rPr sz="1300" b="0" i="0" u="none" strike="noStrike">
                <a:solidFill>
                  <a:srgbClr val="0B1F3A"/>
                </a:solidFill>
                <a:latin typeface="+mn-lt"/>
              </a:rPr>
              <a:t>Counts from /stats (same unit: number of items)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1FB6D1"/>
            </a:solidFill>
            <a:effectLst/>
          </c:spPr>
          <c:invertIfNegative val="0"/>
          <c:dLbls>
            <c:numFmt formatCode="#,##0" sourceLinked="0"/>
            <c:txPr>
              <a:bodyPr/>
              <a:lstStyle/>
              <a:p>
                <a:pPr>
                  <a:defRPr b="1" i="0" strike="noStrike" sz="1300" u="none">
                    <a:solidFill>
                      <a:srgbClr val="0B1F3A"/>
                    </a:solidFill>
                    <a:latin typeface="+mn-lt"/>
                  </a:defRPr>
                </a:pPr>
              </a:p>
            </c:txPr>
            <c:showLegendKey val="0"/>
            <c:showVal val="1"/>
            <c:showCatName val="0"/>
            <c:showSerName val="0"/>
            <c:showPercent val="0"/>
            <c:showBubbleSize val="0"/>
            <c:showLeaderLines val="0"/>
          </c:dLbls>
          <c:cat>
            <c:multiLvlStrRef>
              <c:f>Sheet1!$A$2:$A$4</c:f>
              <c:multiLvlStrCache>
                <c:ptCount val="3"/>
                <c:lvl>
                  <c:pt idx="0">
                    <c:v>Total events</c:v>
                  </c:pt>
                  <c:pt idx="1">
                    <c:v>Energy readings</c:v>
                  </c:pt>
                  <c:pt idx="2">
                    <c:v>Alerts</c:v>
                  </c:pt>
                </c:lvl>
              </c:multiLvlStrCache>
            </c:multiLvlStrRef>
          </c:cat>
          <c:val>
            <c:numRef>
              <c:f>Sheet1!$B$2:$B$4</c:f>
              <c:numCache>
                <c:formatCode>General</c:formatCode>
                <c:ptCount val="3"/>
                <c:pt idx="0">
                  <c:v>5</c:v>
                </c:pt>
                <c:pt idx="1">
                  <c:v>1</c:v>
                </c:pt>
                <c:pt idx="2">
                  <c:v>3</c:v>
                </c:pt>
              </c:numCache>
            </c:numRef>
          </c:val>
        </c:ser>
        <c:dLbls>
          <c:numFmt formatCode="#,##0" sourceLinked="0"/>
          <c:txPr>
            <a:bodyPr/>
            <a:lstStyle/>
            <a:p>
              <a:pPr>
                <a:defRPr b="1" i="0" strike="noStrike" sz="1300" u="none">
                  <a:solidFill>
                    <a:srgbClr val="0B1F3A"/>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B1F3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
SAY: Good morning everyone. We are Joswikkha, Preethi and Anbuselvan, and this is CampusPulse 2026, our project for Big Data and Cloud Computing. It is a small cloud-based prototype that shows how a smart campus could monitor its operations using AWS serverless services in the Paris region.
KEY TECHNICAL POINT: Implemented chain: API Gateway, one Lambda function (Python), DynamoDB. IAM, CloudWatch and SAM/CloudFormation support it. Region eu-west-3.
TRANSITION: Let me start with the problem this prototype tries to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SAY: A campus produces constant signals: events, how many people are in rooms, energy use, and things that go wrong. If these live in separate places, it is hard to see what is happening. CampusPulse tries to bring them into one cloud view. To be clear, this slide describes the need; these are not measured findings from a real campus.
KEY TECHNICAL POINT: Four themes: campus events, occupancy, energy readings, operational alerts. All data in the project is simulated.
TRANSITION: So what did we set out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0:40]
SAY: Our objective was to show that AWS serverless services can be combined into a small, scalable monitoring solution. The prototype receives simulated events, processes the readings, stores the records, calculates statistics, and flags abnormal readings, all through a REST API.
KEY TECHNICAL POINT: Five capabilities: receive, process, store, calculate, detect. Exposed via REST endpoints; no servers to manage.
TRANSITION: Here is the architecture that makes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SAY: This is our real architecture diagram. A request enters through Amazon API Gateway, which routes it to AWS Lambda. Lambda runs our Python code and reads or writes the CampusPulseEvents table in DynamoDB. IAM controls permissions, including the Lambda execution role, and CloudWatch collects the Lambda logs. We deploy it with SAM and CloudFormation. One important point: there is one deployed Lambda function, CampusPulseFunction, with several logical operations, not five separate functions. The orange section at the bottom of the diagram shows future enhancements. Those are not deployed.
KEY TECHNICAL POINT: API Gateway -&gt; Lambda -&gt; DynamoDB. IAM = security; CloudWatch = monitoring; SAM/CloudFormation = infrastructure definition and deployment. The diagram also shows conceptual clients and some monitoring items; only what is listed on this slide is claimed as implemented.
TRANSITION: Now let us look at the technology stack and how data moves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SAY: Data starts with our Python event generator, which simulates campus events and sends them to the API. API Gateway receives and routes each request. Lambda applies the application logic. DynamoDB stores the event records. Underneath, IAM, CloudWatch and SAM support security, monitoring and deployment.
KEY TECHNICAL POINT: Flow: generator -&gt; API Gateway -&gt; Lambda -&gt; DynamoDB. DynamoDB table name: CampusPulseEvents.
TRANSITION: Next, the API itself and what happens to one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SAY: The API has five operations. Health checks the service. Login authenticates users with our role-based mechanism. Events handles event records. Stats returns operational statistics. Alerts retrieves alert information. Follow one simulated event: the generator sends it, API Gateway routes it, Lambda validates and processes it, DynamoDB stores it, and then stats and alerts read from the stored data.
KEY TECHNICAL POINT: All five operations are handled by the single CampusPulseFunction.
TRANSITION: Let me show what we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
SAY: Our automated test suite passed 6 unit tests. The SAM build and template validation succeeded, and we inspected the CloudWatch logs. On the deployed system, health worked, and after logging in, the stats endpoint returned 5 total events, 180 people as the latest occupancy, 1 energy reading with a sum of 18.5 kilowatt-hours, and 3 alerts. The 180 is the aggregated latest occupancy across rooms, not one room. We have not measured performance or scale, and we do not claim any.
KEY TECHNICAL POINT: Verified results only. Counts are charted together; occupancy (people) and energy (kWh) stay in the table because their units differ.
TRANSITION: Now I will show it running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
SAY: Now the live demo, about three minutes. First, health check to confirm the service is up. Second, log in; I will keep credentials off screen. Third, send a simulated event. Fourth, call stats to see the totals. Fifth, call alerts. If anything fails, I will switch to the CloudWatch logs and the verified results on slide 7.
KEY TECHNICAL POINT: Because the demo may add an event, live numbers can differ from the verified baseline of 5 events. Say this out loud if it happens.
TRANSITION: After the demo, I will go back to the slides: challenges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SAY: The main challenges were connecting API Gateway to Lambda, validating API input, making sure events persist in DynamoDB, and getting IAM permissions right. CloudWatch logs were our main debugging tool. On security, what exists today is the IAM execution role, role-based login, and logging. Cognito, a VPC and better secrets handling are proposed improvements, not deployed.
KEY TECHNICAL POINT: Keep implemented vs proposed clearly separated.
TRANSITION: To finish, here is the summary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SAY: To conclude: we built and deployed a serverless prototype on AWS with API Gateway, Lambda and DynamoDB, supported by IAM, CloudWatch and SAM. We validated it with 6 passing unit tests and a working deployment. The future enhancements on the right are proposals only: VPC, Cognito, a hosted dashboard, IoT Core ingestion, more Lambda functions, disaster recovery, Athena and QuickSight, and containers. Thank you. We are happy to take questions.
KEY TECHNICAL POINT: Checklist below.
TRANSITION: Questions.
Live-demo checklist (no credentials in notes):
[ ] AWS region eu-west-3 confirmed; API base URL ready (not shown on slides)
[ ] Credentials loaded locally and hidden from screen share
[ ] /health tested once just before presenting
[ ] Python event generator ready with one event to send
[ ] Terminal font enlarged; commands pre-typed or in history
[ ] CloudWatch log group open in a tab as backup
[ ] Screenshot of /stats results ready as backup
[ ] Remember: sending an event changes the stats from the verified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583680" cy="100584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CampusPulse 2026  ·  Big Data &amp; Cloud Computing  ·  AWS eu-west-3 (Paris)</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60120"/>
            <a:ext cx="676656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BIG DATA &amp; CLOUD COMPUTING  ·  ACADEMIC YEAR 2025–2026</a:t>
            </a:r>
            <a:endParaRPr lang="en-US" sz="1300" dirty="0"/>
          </a:p>
        </p:txBody>
      </p:sp>
      <p:sp>
        <p:nvSpPr>
          <p:cNvPr id="3" name="Text 0"/>
          <p:cNvSpPr/>
          <p:nvPr>
            <p:ph idx="100" type="title" hasCustomPrompt="1"/>
          </p:nvPr>
        </p:nvSpPr>
        <p:spPr>
          <a:xfrm>
            <a:off x="731520" y="1554480"/>
            <a:ext cx="6583680" cy="1005840"/>
          </a:xfrm>
          <a:prstGeom prst="rect">
            <a:avLst/>
          </a:prstGeom>
          <a:noFill/>
          <a:ln/>
        </p:spPr>
        <p:txBody>
          <a:bodyPr wrap="square" lIns="0" tIns="0" rIns="0" bIns="0" rtlCol="0" anchor="t"/>
          <a:lstStyle/>
          <a:p>
            <a:pPr algn="l" indent="0" marL="0">
              <a:buNone/>
            </a:pPr>
            <a:r>
              <a:rPr lang="en-US" sz="5600" b="1" dirty="0">
                <a:solidFill>
                  <a:schemeClr val="bg1"/>
                </a:solidFill>
              </a:rPr>
              <a:t>CampusPulse 2026</a:t>
            </a:r>
            <a:endParaRPr lang="en-US" sz="5600" dirty="0"/>
          </a:p>
        </p:txBody>
      </p:sp>
      <p:sp>
        <p:nvSpPr>
          <p:cNvPr id="4" name="Text 2"/>
          <p:cNvSpPr txBox="1"/>
          <p:nvPr/>
        </p:nvSpPr>
        <p:spPr>
          <a:xfrm>
            <a:off x="731520" y="2651760"/>
            <a:ext cx="6583680" cy="548640"/>
          </a:xfrm>
          <a:prstGeom prst="rect">
            <a:avLst/>
          </a:prstGeom>
          <a:noFill/>
          <a:ln/>
        </p:spPr>
        <p:txBody>
          <a:bodyPr wrap="square" lIns="0" tIns="0" rIns="0" bIns="0" rtlCol="0" anchor="t"/>
          <a:lstStyle/>
          <a:p>
            <a:pPr indent="0" marL="0">
              <a:buNone/>
            </a:pPr>
            <a:r>
              <a:rPr lang="en-US" sz="2600" dirty="0">
                <a:solidFill>
                  <a:schemeClr val="accent2"/>
                </a:solidFill>
              </a:rPr>
              <a:t>Cloud-Based Smart Campus Operations Platform</a:t>
            </a:r>
            <a:endParaRPr lang="en-US" sz="2600" dirty="0"/>
          </a:p>
        </p:txBody>
      </p:sp>
      <p:sp>
        <p:nvSpPr>
          <p:cNvPr id="5" name="Text 3"/>
          <p:cNvSpPr txBox="1"/>
          <p:nvPr/>
        </p:nvSpPr>
        <p:spPr>
          <a:xfrm>
            <a:off x="731520" y="3657600"/>
            <a:ext cx="5486400" cy="100584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Joswikkha Dilli Babu</a:t>
            </a:r>
            <a:endParaRPr lang="en-US" sz="1800" dirty="0"/>
          </a:p>
          <a:p>
            <a:pPr indent="0" marL="0">
              <a:spcAft>
                <a:spcPts val="400"/>
              </a:spcAft>
              <a:buNone/>
            </a:pPr>
            <a:r>
              <a:rPr lang="en-US" sz="1800" dirty="0">
                <a:solidFill>
                  <a:schemeClr val="bg1"/>
                </a:solidFill>
              </a:rPr>
              <a:t>Preethi Krishnamoorthi</a:t>
            </a:r>
            <a:endParaRPr lang="en-US" sz="1800" dirty="0"/>
          </a:p>
          <a:p>
            <a:pPr indent="0" marL="0">
              <a:spcAft>
                <a:spcPts val="400"/>
              </a:spcAft>
              <a:buNone/>
            </a:pPr>
            <a:r>
              <a:rPr lang="en-US" sz="1800" dirty="0">
                <a:solidFill>
                  <a:schemeClr val="bg1"/>
                </a:solidFill>
              </a:rPr>
              <a:t>Anbuselvan Ponnusamy</a:t>
            </a:r>
            <a:endParaRPr lang="en-US" sz="1800" dirty="0"/>
          </a:p>
        </p:txBody>
      </p:sp>
      <p:sp>
        <p:nvSpPr>
          <p:cNvPr id="6" name="Text 4"/>
          <p:cNvSpPr txBox="1"/>
          <p:nvPr/>
        </p:nvSpPr>
        <p:spPr>
          <a:xfrm>
            <a:off x="731520" y="5760720"/>
            <a:ext cx="6766560" cy="320040"/>
          </a:xfrm>
          <a:prstGeom prst="rect">
            <a:avLst/>
          </a:prstGeom>
          <a:noFill/>
          <a:ln/>
        </p:spPr>
        <p:txBody>
          <a:bodyPr wrap="square" lIns="0" tIns="0" rIns="0" bIns="0" rtlCol="0" anchor="t"/>
          <a:lstStyle/>
          <a:p>
            <a:pPr indent="0" marL="0">
              <a:buNone/>
            </a:pPr>
            <a:r>
              <a:rPr lang="en-US" sz="1300" dirty="0">
                <a:solidFill>
                  <a:schemeClr val="bg2"/>
                </a:solidFill>
              </a:rPr>
              <a:t>Amazon Web Services  ·  Europe (Paris) eu-west-3  ·  10 October 2026</a:t>
            </a:r>
            <a:endParaRPr lang="en-US" sz="1300" dirty="0"/>
          </a:p>
        </p:txBody>
      </p:sp>
      <p:sp>
        <p:nvSpPr>
          <p:cNvPr id="7" name="Shape 5"/>
          <p:cNvSpPr/>
          <p:nvPr/>
        </p:nvSpPr>
        <p:spPr>
          <a:xfrm>
            <a:off x="7772400" y="1097280"/>
            <a:ext cx="3749040" cy="4663440"/>
          </a:xfrm>
          <a:prstGeom prst="roundRect">
            <a:avLst>
              <a:gd name="adj" fmla="val 2439"/>
            </a:avLst>
          </a:prstGeom>
          <a:solidFill>
            <a:schemeClr val="accent1"/>
          </a:solidFill>
          <a:ln/>
        </p:spPr>
      </p:sp>
      <p:sp>
        <p:nvSpPr>
          <p:cNvPr id="8" name="Text 6"/>
          <p:cNvSpPr txBox="1"/>
          <p:nvPr/>
        </p:nvSpPr>
        <p:spPr>
          <a:xfrm>
            <a:off x="8046720" y="1371600"/>
            <a:ext cx="3200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IMPLEMENTED SERVERLESS FLOW</a:t>
            </a:r>
            <a:endParaRPr lang="en-US" sz="1100" dirty="0"/>
          </a:p>
        </p:txBody>
      </p:sp>
      <p:sp>
        <p:nvSpPr>
          <p:cNvPr id="9" name="Shape 7"/>
          <p:cNvSpPr/>
          <p:nvPr/>
        </p:nvSpPr>
        <p:spPr>
          <a:xfrm>
            <a:off x="8046720" y="1874520"/>
            <a:ext cx="3200400" cy="868680"/>
          </a:xfrm>
          <a:prstGeom prst="roundRect">
            <a:avLst>
              <a:gd name="adj" fmla="val 10526"/>
            </a:avLst>
          </a:prstGeom>
          <a:solidFill>
            <a:schemeClr val="tx2"/>
          </a:solidFill>
          <a:ln/>
        </p:spPr>
      </p:sp>
      <p:sp>
        <p:nvSpPr>
          <p:cNvPr id="10" name="Text 8"/>
          <p:cNvSpPr txBox="1"/>
          <p:nvPr/>
        </p:nvSpPr>
        <p:spPr>
          <a:xfrm>
            <a:off x="8229600" y="2002536"/>
            <a:ext cx="2834640" cy="365760"/>
          </a:xfrm>
          <a:prstGeom prst="rect">
            <a:avLst/>
          </a:prstGeom>
          <a:noFill/>
          <a:ln/>
        </p:spPr>
        <p:txBody>
          <a:bodyPr wrap="square" lIns="0" tIns="0" rIns="0" bIns="0" rtlCol="0" anchor="t"/>
          <a:lstStyle/>
          <a:p>
            <a:pPr indent="0" marL="0">
              <a:buNone/>
            </a:pPr>
            <a:r>
              <a:rPr lang="en-US" sz="1800" b="1" dirty="0">
                <a:solidFill>
                  <a:schemeClr val="bg1"/>
                </a:solidFill>
              </a:rPr>
              <a:t>Amazon API Gateway</a:t>
            </a:r>
            <a:endParaRPr lang="en-US" sz="1800" dirty="0"/>
          </a:p>
        </p:txBody>
      </p:sp>
      <p:sp>
        <p:nvSpPr>
          <p:cNvPr id="11" name="Text 9"/>
          <p:cNvSpPr txBox="1"/>
          <p:nvPr/>
        </p:nvSpPr>
        <p:spPr>
          <a:xfrm>
            <a:off x="8229600" y="2368296"/>
            <a:ext cx="2834640" cy="274320"/>
          </a:xfrm>
          <a:prstGeom prst="rect">
            <a:avLst/>
          </a:prstGeom>
          <a:noFill/>
          <a:ln/>
        </p:spPr>
        <p:txBody>
          <a:bodyPr wrap="square" lIns="0" tIns="0" rIns="0" bIns="0" rtlCol="0" anchor="t"/>
          <a:lstStyle/>
          <a:p>
            <a:pPr indent="0" marL="0">
              <a:buNone/>
            </a:pPr>
            <a:r>
              <a:rPr lang="en-US" sz="1300" dirty="0">
                <a:solidFill>
                  <a:schemeClr val="accent2"/>
                </a:solidFill>
              </a:rPr>
              <a:t>REST endpoints</a:t>
            </a:r>
            <a:endParaRPr lang="en-US" sz="1300" dirty="0"/>
          </a:p>
        </p:txBody>
      </p:sp>
      <p:sp>
        <p:nvSpPr>
          <p:cNvPr id="12" name="Shape 10"/>
          <p:cNvSpPr/>
          <p:nvPr/>
        </p:nvSpPr>
        <p:spPr>
          <a:xfrm>
            <a:off x="9646920" y="2761488"/>
            <a:ext cx="0" cy="329184"/>
          </a:xfrm>
          <a:prstGeom prst="line">
            <a:avLst/>
          </a:prstGeom>
          <a:noFill/>
          <a:ln w="25400">
            <a:solidFill>
              <a:schemeClr val="accent2"/>
            </a:solidFill>
            <a:prstDash val="solid"/>
            <a:tailEnd type="triangle"/>
          </a:ln>
        </p:spPr>
      </p:sp>
      <p:sp>
        <p:nvSpPr>
          <p:cNvPr id="13" name="Shape 11"/>
          <p:cNvSpPr/>
          <p:nvPr/>
        </p:nvSpPr>
        <p:spPr>
          <a:xfrm>
            <a:off x="8046720" y="3108960"/>
            <a:ext cx="3200400" cy="868680"/>
          </a:xfrm>
          <a:prstGeom prst="roundRect">
            <a:avLst>
              <a:gd name="adj" fmla="val 10526"/>
            </a:avLst>
          </a:prstGeom>
          <a:solidFill>
            <a:schemeClr val="tx2"/>
          </a:solidFill>
          <a:ln/>
        </p:spPr>
      </p:sp>
      <p:sp>
        <p:nvSpPr>
          <p:cNvPr id="14" name="Text 12"/>
          <p:cNvSpPr txBox="1"/>
          <p:nvPr/>
        </p:nvSpPr>
        <p:spPr>
          <a:xfrm>
            <a:off x="8229600" y="3236976"/>
            <a:ext cx="2834640" cy="365760"/>
          </a:xfrm>
          <a:prstGeom prst="rect">
            <a:avLst/>
          </a:prstGeom>
          <a:noFill/>
          <a:ln/>
        </p:spPr>
        <p:txBody>
          <a:bodyPr wrap="square" lIns="0" tIns="0" rIns="0" bIns="0" rtlCol="0" anchor="t"/>
          <a:lstStyle/>
          <a:p>
            <a:pPr indent="0" marL="0">
              <a:buNone/>
            </a:pPr>
            <a:r>
              <a:rPr lang="en-US" sz="1800" b="1" dirty="0">
                <a:solidFill>
                  <a:schemeClr val="bg1"/>
                </a:solidFill>
              </a:rPr>
              <a:t>AWS Lambda</a:t>
            </a:r>
            <a:endParaRPr lang="en-US" sz="1800" dirty="0"/>
          </a:p>
        </p:txBody>
      </p:sp>
      <p:sp>
        <p:nvSpPr>
          <p:cNvPr id="15" name="Text 13"/>
          <p:cNvSpPr txBox="1"/>
          <p:nvPr/>
        </p:nvSpPr>
        <p:spPr>
          <a:xfrm>
            <a:off x="8229600" y="3602736"/>
            <a:ext cx="2834640" cy="274320"/>
          </a:xfrm>
          <a:prstGeom prst="rect">
            <a:avLst/>
          </a:prstGeom>
          <a:noFill/>
          <a:ln/>
        </p:spPr>
        <p:txBody>
          <a:bodyPr wrap="square" lIns="0" tIns="0" rIns="0" bIns="0" rtlCol="0" anchor="t"/>
          <a:lstStyle/>
          <a:p>
            <a:pPr indent="0" marL="0">
              <a:buNone/>
            </a:pPr>
            <a:r>
              <a:rPr lang="en-US" sz="1300" dirty="0">
                <a:solidFill>
                  <a:schemeClr val="accent2"/>
                </a:solidFill>
              </a:rPr>
              <a:t>Python backend</a:t>
            </a:r>
            <a:endParaRPr lang="en-US" sz="1300" dirty="0"/>
          </a:p>
        </p:txBody>
      </p:sp>
      <p:sp>
        <p:nvSpPr>
          <p:cNvPr id="16" name="Shape 14"/>
          <p:cNvSpPr/>
          <p:nvPr/>
        </p:nvSpPr>
        <p:spPr>
          <a:xfrm>
            <a:off x="9646920" y="3995928"/>
            <a:ext cx="0" cy="329184"/>
          </a:xfrm>
          <a:prstGeom prst="line">
            <a:avLst/>
          </a:prstGeom>
          <a:noFill/>
          <a:ln w="25400">
            <a:solidFill>
              <a:schemeClr val="accent2"/>
            </a:solidFill>
            <a:prstDash val="solid"/>
            <a:tailEnd type="triangle"/>
          </a:ln>
        </p:spPr>
      </p:sp>
      <p:sp>
        <p:nvSpPr>
          <p:cNvPr id="17" name="Shape 15"/>
          <p:cNvSpPr/>
          <p:nvPr/>
        </p:nvSpPr>
        <p:spPr>
          <a:xfrm>
            <a:off x="8046720" y="4343400"/>
            <a:ext cx="3200400" cy="868680"/>
          </a:xfrm>
          <a:prstGeom prst="roundRect">
            <a:avLst>
              <a:gd name="adj" fmla="val 10526"/>
            </a:avLst>
          </a:prstGeom>
          <a:solidFill>
            <a:schemeClr val="tx2"/>
          </a:solidFill>
          <a:ln/>
        </p:spPr>
      </p:sp>
      <p:sp>
        <p:nvSpPr>
          <p:cNvPr id="18" name="Text 16"/>
          <p:cNvSpPr txBox="1"/>
          <p:nvPr/>
        </p:nvSpPr>
        <p:spPr>
          <a:xfrm>
            <a:off x="8229600" y="4471416"/>
            <a:ext cx="2834640" cy="365760"/>
          </a:xfrm>
          <a:prstGeom prst="rect">
            <a:avLst/>
          </a:prstGeom>
          <a:noFill/>
          <a:ln/>
        </p:spPr>
        <p:txBody>
          <a:bodyPr wrap="square" lIns="0" tIns="0" rIns="0" bIns="0" rtlCol="0" anchor="t"/>
          <a:lstStyle/>
          <a:p>
            <a:pPr indent="0" marL="0">
              <a:buNone/>
            </a:pPr>
            <a:r>
              <a:rPr lang="en-US" sz="1800" b="1" dirty="0">
                <a:solidFill>
                  <a:schemeClr val="bg1"/>
                </a:solidFill>
              </a:rPr>
              <a:t>Amazon DynamoDB</a:t>
            </a:r>
            <a:endParaRPr lang="en-US" sz="1800" dirty="0"/>
          </a:p>
        </p:txBody>
      </p:sp>
      <p:sp>
        <p:nvSpPr>
          <p:cNvPr id="19" name="Text 17"/>
          <p:cNvSpPr txBox="1"/>
          <p:nvPr/>
        </p:nvSpPr>
        <p:spPr>
          <a:xfrm>
            <a:off x="8229600" y="4837176"/>
            <a:ext cx="2834640" cy="274320"/>
          </a:xfrm>
          <a:prstGeom prst="rect">
            <a:avLst/>
          </a:prstGeom>
          <a:noFill/>
          <a:ln/>
        </p:spPr>
        <p:txBody>
          <a:bodyPr wrap="square" lIns="0" tIns="0" rIns="0" bIns="0" rtlCol="0" anchor="t"/>
          <a:lstStyle/>
          <a:p>
            <a:pPr indent="0" marL="0">
              <a:buNone/>
            </a:pPr>
            <a:r>
              <a:rPr lang="en-US" sz="1300" dirty="0">
                <a:solidFill>
                  <a:schemeClr val="accent2"/>
                </a:solidFill>
              </a:rPr>
              <a:t>CampusPulseEvents</a:t>
            </a:r>
            <a:endParaRPr lang="en-US" sz="1300" dirty="0"/>
          </a:p>
        </p:txBody>
      </p:sp>
      <p:sp>
        <p:nvSpPr>
          <p:cNvPr id="20" name="Text 18"/>
          <p:cNvSpPr txBox="1"/>
          <p:nvPr/>
        </p:nvSpPr>
        <p:spPr>
          <a:xfrm>
            <a:off x="8046720" y="5212080"/>
            <a:ext cx="3200400" cy="274320"/>
          </a:xfrm>
          <a:prstGeom prst="rect">
            <a:avLst/>
          </a:prstGeom>
          <a:noFill/>
          <a:ln/>
        </p:spPr>
        <p:txBody>
          <a:bodyPr wrap="square" lIns="0" tIns="0" rIns="0" bIns="0" rtlCol="0" anchor="t"/>
          <a:lstStyle/>
          <a:p>
            <a:pPr algn="ctr" indent="0" marL="0">
              <a:buNone/>
            </a:pPr>
            <a:r>
              <a:rPr lang="en-US" sz="1200" dirty="0">
                <a:solidFill>
                  <a:schemeClr val="bg2"/>
                </a:solidFill>
              </a:rPr>
              <a:t>with IAM · CloudWatch · SAM / CloudFormation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and motivation</a:t>
            </a:r>
            <a:endParaRPr lang="en-US" sz="3400" dirty="0"/>
          </a:p>
        </p:txBody>
      </p:sp>
      <p:sp>
        <p:nvSpPr>
          <p:cNvPr id="3" name="Shape 1"/>
          <p:cNvSpPr/>
          <p:nvPr/>
        </p:nvSpPr>
        <p:spPr>
          <a:xfrm>
            <a:off x="566928" y="1508760"/>
            <a:ext cx="2606040" cy="3200400"/>
          </a:xfrm>
          <a:prstGeom prst="roundRect">
            <a:avLst>
              <a:gd name="adj" fmla="val 3509"/>
            </a:avLst>
          </a:prstGeom>
          <a:solidFill>
            <a:schemeClr val="bg2"/>
          </a:solidFill>
          <a:ln/>
        </p:spPr>
      </p:sp>
      <p:sp>
        <p:nvSpPr>
          <p:cNvPr id="4" name="Shape 2"/>
          <p:cNvSpPr/>
          <p:nvPr/>
        </p:nvSpPr>
        <p:spPr>
          <a:xfrm>
            <a:off x="841248" y="1783080"/>
            <a:ext cx="777240" cy="777240"/>
          </a:xfrm>
          <a:prstGeom prst="ellipse">
            <a:avLst/>
          </a:prstGeom>
          <a:solidFill>
            <a:srgbClr val="173B6B"/>
          </a:solidFill>
          <a:ln/>
        </p:spPr>
      </p:sp>
      <p:pic>
        <p:nvPicPr>
          <p:cNvPr id="5" name="Image 0" descr="preencoded.png">    </p:cNvPr>
          <p:cNvPicPr>
            <a:picLocks noChangeAspect="1"/>
          </p:cNvPicPr>
          <p:nvPr/>
        </p:nvPicPr>
        <p:blipFill>
          <a:blip r:embed="rId1"/>
          <a:stretch>
            <a:fillRect/>
          </a:stretch>
        </p:blipFill>
        <p:spPr>
          <a:xfrm>
            <a:off x="1051103" y="1992935"/>
            <a:ext cx="357530" cy="357530"/>
          </a:xfrm>
          <a:prstGeom prst="rect">
            <a:avLst/>
          </a:prstGeom>
        </p:spPr>
      </p:pic>
      <p:sp>
        <p:nvSpPr>
          <p:cNvPr id="6" name="Text 3"/>
          <p:cNvSpPr txBox="1"/>
          <p:nvPr/>
        </p:nvSpPr>
        <p:spPr>
          <a:xfrm>
            <a:off x="841248" y="27889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Campus events</a:t>
            </a:r>
            <a:endParaRPr lang="en-US" sz="2000" dirty="0"/>
          </a:p>
        </p:txBody>
      </p:sp>
      <p:sp>
        <p:nvSpPr>
          <p:cNvPr id="7" name="Text 4"/>
          <p:cNvSpPr txBox="1"/>
          <p:nvPr/>
        </p:nvSpPr>
        <p:spPr>
          <a:xfrm>
            <a:off x="841248" y="3291840"/>
            <a:ext cx="2103120" cy="1280160"/>
          </a:xfrm>
          <a:prstGeom prst="rect">
            <a:avLst/>
          </a:prstGeom>
          <a:noFill/>
          <a:ln/>
        </p:spPr>
        <p:txBody>
          <a:bodyPr wrap="square" lIns="0" tIns="0" rIns="0" bIns="0" rtlCol="0" anchor="t"/>
          <a:lstStyle/>
          <a:p>
            <a:pPr indent="0" marL="0">
              <a:buNone/>
            </a:pPr>
            <a:r>
              <a:rPr lang="en-US" sz="1400" dirty="0">
                <a:solidFill>
                  <a:schemeClr val="tx1"/>
                </a:solidFill>
              </a:rPr>
              <a:t>Classes, requests and activities generate a constant stream of events.</a:t>
            </a:r>
            <a:endParaRPr lang="en-US" sz="1400" dirty="0"/>
          </a:p>
        </p:txBody>
      </p:sp>
      <p:sp>
        <p:nvSpPr>
          <p:cNvPr id="8" name="Shape 5"/>
          <p:cNvSpPr/>
          <p:nvPr/>
        </p:nvSpPr>
        <p:spPr>
          <a:xfrm>
            <a:off x="3383280" y="1508760"/>
            <a:ext cx="2606040" cy="3200400"/>
          </a:xfrm>
          <a:prstGeom prst="roundRect">
            <a:avLst>
              <a:gd name="adj" fmla="val 3509"/>
            </a:avLst>
          </a:prstGeom>
          <a:solidFill>
            <a:schemeClr val="bg2"/>
          </a:solidFill>
          <a:ln/>
        </p:spPr>
      </p:sp>
      <p:sp>
        <p:nvSpPr>
          <p:cNvPr id="9" name="Shape 6"/>
          <p:cNvSpPr/>
          <p:nvPr/>
        </p:nvSpPr>
        <p:spPr>
          <a:xfrm>
            <a:off x="3657600" y="1783080"/>
            <a:ext cx="777240" cy="777240"/>
          </a:xfrm>
          <a:prstGeom prst="ellipse">
            <a:avLst/>
          </a:prstGeom>
          <a:solidFill>
            <a:srgbClr val="173B6B"/>
          </a:solidFill>
          <a:ln/>
        </p:spPr>
      </p:sp>
      <p:pic>
        <p:nvPicPr>
          <p:cNvPr id="10" name="Image 1" descr="preencoded.png">    </p:cNvPr>
          <p:cNvPicPr>
            <a:picLocks noChangeAspect="1"/>
          </p:cNvPicPr>
          <p:nvPr/>
        </p:nvPicPr>
        <p:blipFill>
          <a:blip r:embed="rId2"/>
          <a:stretch>
            <a:fillRect/>
          </a:stretch>
        </p:blipFill>
        <p:spPr>
          <a:xfrm>
            <a:off x="3867455" y="1992935"/>
            <a:ext cx="357530" cy="357530"/>
          </a:xfrm>
          <a:prstGeom prst="rect">
            <a:avLst/>
          </a:prstGeom>
        </p:spPr>
      </p:pic>
      <p:sp>
        <p:nvSpPr>
          <p:cNvPr id="11" name="Text 7"/>
          <p:cNvSpPr txBox="1"/>
          <p:nvPr/>
        </p:nvSpPr>
        <p:spPr>
          <a:xfrm>
            <a:off x="3657600" y="27889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Occupancy</a:t>
            </a:r>
            <a:endParaRPr lang="en-US" sz="2000" dirty="0"/>
          </a:p>
        </p:txBody>
      </p:sp>
      <p:sp>
        <p:nvSpPr>
          <p:cNvPr id="12" name="Text 8"/>
          <p:cNvSpPr txBox="1"/>
          <p:nvPr/>
        </p:nvSpPr>
        <p:spPr>
          <a:xfrm>
            <a:off x="3657600" y="3291840"/>
            <a:ext cx="2103120" cy="1280160"/>
          </a:xfrm>
          <a:prstGeom prst="rect">
            <a:avLst/>
          </a:prstGeom>
          <a:noFill/>
          <a:ln/>
        </p:spPr>
        <p:txBody>
          <a:bodyPr wrap="square" lIns="0" tIns="0" rIns="0" bIns="0" rtlCol="0" anchor="t"/>
          <a:lstStyle/>
          <a:p>
            <a:pPr indent="0" marL="0">
              <a:buNone/>
            </a:pPr>
            <a:r>
              <a:rPr lang="en-US" sz="1400" dirty="0">
                <a:solidFill>
                  <a:schemeClr val="tx1"/>
                </a:solidFill>
              </a:rPr>
              <a:t>Knowing how busy rooms and buildings are supports planning.</a:t>
            </a:r>
            <a:endParaRPr lang="en-US" sz="1400" dirty="0"/>
          </a:p>
        </p:txBody>
      </p:sp>
      <p:sp>
        <p:nvSpPr>
          <p:cNvPr id="13" name="Shape 9"/>
          <p:cNvSpPr/>
          <p:nvPr/>
        </p:nvSpPr>
        <p:spPr>
          <a:xfrm>
            <a:off x="6199632" y="1508760"/>
            <a:ext cx="2606040" cy="3200400"/>
          </a:xfrm>
          <a:prstGeom prst="roundRect">
            <a:avLst>
              <a:gd name="adj" fmla="val 3509"/>
            </a:avLst>
          </a:prstGeom>
          <a:solidFill>
            <a:schemeClr val="bg2"/>
          </a:solidFill>
          <a:ln/>
        </p:spPr>
      </p:sp>
      <p:sp>
        <p:nvSpPr>
          <p:cNvPr id="14" name="Shape 10"/>
          <p:cNvSpPr/>
          <p:nvPr/>
        </p:nvSpPr>
        <p:spPr>
          <a:xfrm>
            <a:off x="6473952" y="1783080"/>
            <a:ext cx="777240" cy="777240"/>
          </a:xfrm>
          <a:prstGeom prst="ellipse">
            <a:avLst/>
          </a:prstGeom>
          <a:solidFill>
            <a:srgbClr val="173B6B"/>
          </a:solidFill>
          <a:ln/>
        </p:spPr>
      </p:sp>
      <p:pic>
        <p:nvPicPr>
          <p:cNvPr id="15" name="Image 2" descr="preencoded.png">    </p:cNvPr>
          <p:cNvPicPr>
            <a:picLocks noChangeAspect="1"/>
          </p:cNvPicPr>
          <p:nvPr/>
        </p:nvPicPr>
        <p:blipFill>
          <a:blip r:embed="rId3"/>
          <a:stretch>
            <a:fillRect/>
          </a:stretch>
        </p:blipFill>
        <p:spPr>
          <a:xfrm>
            <a:off x="6683807" y="1992935"/>
            <a:ext cx="357530" cy="357530"/>
          </a:xfrm>
          <a:prstGeom prst="rect">
            <a:avLst/>
          </a:prstGeom>
        </p:spPr>
      </p:pic>
      <p:sp>
        <p:nvSpPr>
          <p:cNvPr id="16" name="Text 11"/>
          <p:cNvSpPr txBox="1"/>
          <p:nvPr/>
        </p:nvSpPr>
        <p:spPr>
          <a:xfrm>
            <a:off x="6473952" y="27889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Energy use</a:t>
            </a:r>
            <a:endParaRPr lang="en-US" sz="2000" dirty="0"/>
          </a:p>
        </p:txBody>
      </p:sp>
      <p:sp>
        <p:nvSpPr>
          <p:cNvPr id="17" name="Text 12"/>
          <p:cNvSpPr txBox="1"/>
          <p:nvPr/>
        </p:nvSpPr>
        <p:spPr>
          <a:xfrm>
            <a:off x="6473952" y="3291840"/>
            <a:ext cx="2103120" cy="1280160"/>
          </a:xfrm>
          <a:prstGeom prst="rect">
            <a:avLst/>
          </a:prstGeom>
          <a:noFill/>
          <a:ln/>
        </p:spPr>
        <p:txBody>
          <a:bodyPr wrap="square" lIns="0" tIns="0" rIns="0" bIns="0" rtlCol="0" anchor="t"/>
          <a:lstStyle/>
          <a:p>
            <a:pPr indent="0" marL="0">
              <a:buNone/>
            </a:pPr>
            <a:r>
              <a:rPr lang="en-US" sz="1400" dirty="0">
                <a:solidFill>
                  <a:schemeClr val="tx1"/>
                </a:solidFill>
              </a:rPr>
              <a:t>Energy readings show where resources are being consumed.</a:t>
            </a:r>
            <a:endParaRPr lang="en-US" sz="1400" dirty="0"/>
          </a:p>
        </p:txBody>
      </p:sp>
      <p:sp>
        <p:nvSpPr>
          <p:cNvPr id="18" name="Shape 13"/>
          <p:cNvSpPr/>
          <p:nvPr/>
        </p:nvSpPr>
        <p:spPr>
          <a:xfrm>
            <a:off x="9015984" y="1508760"/>
            <a:ext cx="2606040" cy="3200400"/>
          </a:xfrm>
          <a:prstGeom prst="roundRect">
            <a:avLst>
              <a:gd name="adj" fmla="val 3509"/>
            </a:avLst>
          </a:prstGeom>
          <a:solidFill>
            <a:schemeClr val="bg2"/>
          </a:solidFill>
          <a:ln/>
        </p:spPr>
      </p:sp>
      <p:sp>
        <p:nvSpPr>
          <p:cNvPr id="19" name="Shape 14"/>
          <p:cNvSpPr/>
          <p:nvPr/>
        </p:nvSpPr>
        <p:spPr>
          <a:xfrm>
            <a:off x="9290304" y="1783080"/>
            <a:ext cx="777240" cy="777240"/>
          </a:xfrm>
          <a:prstGeom prst="ellipse">
            <a:avLst/>
          </a:prstGeom>
          <a:solidFill>
            <a:srgbClr val="FF9900"/>
          </a:solidFill>
          <a:ln/>
        </p:spPr>
      </p:sp>
      <p:pic>
        <p:nvPicPr>
          <p:cNvPr id="20" name="Image 3" descr="preencoded.png">    </p:cNvPr>
          <p:cNvPicPr>
            <a:picLocks noChangeAspect="1"/>
          </p:cNvPicPr>
          <p:nvPr/>
        </p:nvPicPr>
        <p:blipFill>
          <a:blip r:embed="rId4"/>
          <a:stretch>
            <a:fillRect/>
          </a:stretch>
        </p:blipFill>
        <p:spPr>
          <a:xfrm>
            <a:off x="9500159" y="1992935"/>
            <a:ext cx="357530" cy="357530"/>
          </a:xfrm>
          <a:prstGeom prst="rect">
            <a:avLst/>
          </a:prstGeom>
        </p:spPr>
      </p:pic>
      <p:sp>
        <p:nvSpPr>
          <p:cNvPr id="21" name="Text 15"/>
          <p:cNvSpPr txBox="1"/>
          <p:nvPr/>
        </p:nvSpPr>
        <p:spPr>
          <a:xfrm>
            <a:off x="9290304" y="27889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Operational alerts</a:t>
            </a:r>
            <a:endParaRPr lang="en-US" sz="2000" dirty="0"/>
          </a:p>
        </p:txBody>
      </p:sp>
      <p:sp>
        <p:nvSpPr>
          <p:cNvPr id="22" name="Text 16"/>
          <p:cNvSpPr txBox="1"/>
          <p:nvPr/>
        </p:nvSpPr>
        <p:spPr>
          <a:xfrm>
            <a:off x="9290304" y="3291840"/>
            <a:ext cx="2103120" cy="1280160"/>
          </a:xfrm>
          <a:prstGeom prst="rect">
            <a:avLst/>
          </a:prstGeom>
          <a:noFill/>
          <a:ln/>
        </p:spPr>
        <p:txBody>
          <a:bodyPr wrap="square" lIns="0" tIns="0" rIns="0" bIns="0" rtlCol="0" anchor="t"/>
          <a:lstStyle/>
          <a:p>
            <a:pPr indent="0" marL="0">
              <a:buNone/>
            </a:pPr>
            <a:r>
              <a:rPr lang="en-US" sz="1400" dirty="0">
                <a:solidFill>
                  <a:schemeClr val="tx1"/>
                </a:solidFill>
              </a:rPr>
              <a:t>Abnormal readings need to be spotted quickly.</a:t>
            </a:r>
            <a:endParaRPr lang="en-US" sz="1400" dirty="0"/>
          </a:p>
        </p:txBody>
      </p:sp>
      <p:sp>
        <p:nvSpPr>
          <p:cNvPr id="23" name="Shape 17"/>
          <p:cNvSpPr/>
          <p:nvPr/>
        </p:nvSpPr>
        <p:spPr>
          <a:xfrm>
            <a:off x="566928" y="5029200"/>
            <a:ext cx="11055096" cy="1005840"/>
          </a:xfrm>
          <a:prstGeom prst="roundRect">
            <a:avLst>
              <a:gd name="adj" fmla="val 9091"/>
            </a:avLst>
          </a:prstGeom>
          <a:solidFill>
            <a:schemeClr val="tx2"/>
          </a:solidFill>
          <a:ln/>
        </p:spPr>
      </p:sp>
      <p:sp>
        <p:nvSpPr>
          <p:cNvPr id="24" name="Text 18"/>
          <p:cNvSpPr txBox="1"/>
          <p:nvPr/>
        </p:nvSpPr>
        <p:spPr>
          <a:xfrm>
            <a:off x="868680" y="5029200"/>
            <a:ext cx="10424160" cy="1005840"/>
          </a:xfrm>
          <a:prstGeom prst="rect">
            <a:avLst/>
          </a:prstGeom>
          <a:noFill/>
          <a:ln/>
        </p:spPr>
        <p:txBody>
          <a:bodyPr wrap="square" lIns="0" tIns="0" rIns="0" bIns="0" rtlCol="0" anchor="ctr"/>
          <a:lstStyle/>
          <a:p>
            <a:pPr indent="0" marL="0">
              <a:buNone/>
            </a:pPr>
            <a:r>
              <a:rPr lang="en-US" sz="1600" b="1" dirty="0">
                <a:solidFill>
                  <a:schemeClr val="accent2"/>
                </a:solidFill>
              </a:rPr>
              <a:t>The need: </a:t>
            </a:r>
            <a:pPr indent="0" marL="0">
              <a:buNone/>
            </a:pPr>
            <a:r>
              <a:rPr lang="en-US" sz="1600" dirty="0">
                <a:solidFill>
                  <a:schemeClr val="bg1"/>
                </a:solidFill>
              </a:rPr>
              <a:t>one cloud view of events, readings and alerts. CampusPulse is a prototype that addresses this need; these are not measured real-world findings.</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Project objectives and solution</a:t>
            </a:r>
            <a:endParaRPr lang="en-US" sz="3400" dirty="0"/>
          </a:p>
        </p:txBody>
      </p:sp>
      <p:sp>
        <p:nvSpPr>
          <p:cNvPr id="3" name="Shape 1"/>
          <p:cNvSpPr/>
          <p:nvPr/>
        </p:nvSpPr>
        <p:spPr>
          <a:xfrm>
            <a:off x="566928" y="1508760"/>
            <a:ext cx="4297680" cy="4526280"/>
          </a:xfrm>
          <a:prstGeom prst="roundRect">
            <a:avLst>
              <a:gd name="adj" fmla="val 2128"/>
            </a:avLst>
          </a:prstGeom>
          <a:solidFill>
            <a:schemeClr val="tx2"/>
          </a:solidFill>
          <a:ln/>
        </p:spPr>
      </p:sp>
      <p:sp>
        <p:nvSpPr>
          <p:cNvPr id="4" name="Text 2"/>
          <p:cNvSpPr txBox="1"/>
          <p:nvPr/>
        </p:nvSpPr>
        <p:spPr>
          <a:xfrm>
            <a:off x="868680" y="178308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OBJECTIVE</a:t>
            </a:r>
            <a:endParaRPr lang="en-US" sz="1200" dirty="0"/>
          </a:p>
        </p:txBody>
      </p:sp>
      <p:sp>
        <p:nvSpPr>
          <p:cNvPr id="5" name="Text 3"/>
          <p:cNvSpPr txBox="1"/>
          <p:nvPr/>
        </p:nvSpPr>
        <p:spPr>
          <a:xfrm>
            <a:off x="868680" y="2194560"/>
            <a:ext cx="3703320" cy="2011680"/>
          </a:xfrm>
          <a:prstGeom prst="rect">
            <a:avLst/>
          </a:prstGeom>
          <a:noFill/>
          <a:ln/>
        </p:spPr>
        <p:txBody>
          <a:bodyPr wrap="square" lIns="0" tIns="0" rIns="0" bIns="0" rtlCol="0" anchor="t"/>
          <a:lstStyle/>
          <a:p>
            <a:pPr indent="0" marL="0">
              <a:buNone/>
            </a:pPr>
            <a:r>
              <a:rPr lang="en-US" sz="2200" b="1" dirty="0">
                <a:solidFill>
                  <a:schemeClr val="bg1"/>
                </a:solidFill>
              </a:rPr>
              <a:t>Demonstrate how AWS serverless services combine into a small, scalable campus monitoring solution.</a:t>
            </a:r>
            <a:endParaRPr lang="en-US" sz="2200" dirty="0"/>
          </a:p>
        </p:txBody>
      </p:sp>
      <p:sp>
        <p:nvSpPr>
          <p:cNvPr id="6" name="Shape 4"/>
          <p:cNvSpPr/>
          <p:nvPr/>
        </p:nvSpPr>
        <p:spPr>
          <a:xfrm>
            <a:off x="868680" y="4846320"/>
            <a:ext cx="1097280" cy="310896"/>
          </a:xfrm>
          <a:prstGeom prst="roundRect">
            <a:avLst>
              <a:gd name="adj" fmla="val 50000"/>
            </a:avLst>
          </a:prstGeom>
          <a:solidFill>
            <a:schemeClr val="accent2"/>
          </a:solidFill>
          <a:ln/>
        </p:spPr>
      </p:sp>
      <p:sp>
        <p:nvSpPr>
          <p:cNvPr id="7" name="Text 5"/>
          <p:cNvSpPr txBox="1"/>
          <p:nvPr/>
        </p:nvSpPr>
        <p:spPr>
          <a:xfrm>
            <a:off x="868680" y="4846320"/>
            <a:ext cx="1097280" cy="310896"/>
          </a:xfrm>
          <a:prstGeom prst="rect">
            <a:avLst/>
          </a:prstGeom>
          <a:noFill/>
          <a:ln/>
        </p:spPr>
        <p:txBody>
          <a:bodyPr wrap="square" lIns="0" tIns="0" rIns="0" bIns="0" rtlCol="0" anchor="ctr"/>
          <a:lstStyle/>
          <a:p>
            <a:pPr algn="ctr" indent="0" marL="0">
              <a:buNone/>
            </a:pPr>
            <a:r>
              <a:rPr lang="en-US" sz="1100" b="1" dirty="0">
                <a:solidFill>
                  <a:schemeClr val="tx2"/>
                </a:solidFill>
              </a:rPr>
              <a:t>Simulated data</a:t>
            </a:r>
            <a:endParaRPr lang="en-US" sz="1100" dirty="0"/>
          </a:p>
        </p:txBody>
      </p:sp>
      <p:sp>
        <p:nvSpPr>
          <p:cNvPr id="8" name="Shape 6"/>
          <p:cNvSpPr/>
          <p:nvPr/>
        </p:nvSpPr>
        <p:spPr>
          <a:xfrm>
            <a:off x="2057400" y="4846320"/>
            <a:ext cx="1097280" cy="310896"/>
          </a:xfrm>
          <a:prstGeom prst="roundRect">
            <a:avLst>
              <a:gd name="adj" fmla="val 50000"/>
            </a:avLst>
          </a:prstGeom>
          <a:solidFill>
            <a:schemeClr val="accent2"/>
          </a:solidFill>
          <a:ln/>
        </p:spPr>
      </p:sp>
      <p:sp>
        <p:nvSpPr>
          <p:cNvPr id="9" name="Text 7"/>
          <p:cNvSpPr txBox="1"/>
          <p:nvPr/>
        </p:nvSpPr>
        <p:spPr>
          <a:xfrm>
            <a:off x="2057400" y="4846320"/>
            <a:ext cx="1097280" cy="310896"/>
          </a:xfrm>
          <a:prstGeom prst="rect">
            <a:avLst/>
          </a:prstGeom>
          <a:noFill/>
          <a:ln/>
        </p:spPr>
        <p:txBody>
          <a:bodyPr wrap="square" lIns="0" tIns="0" rIns="0" bIns="0" rtlCol="0" anchor="ctr"/>
          <a:lstStyle/>
          <a:p>
            <a:pPr algn="ctr" indent="0" marL="0">
              <a:buNone/>
            </a:pPr>
            <a:r>
              <a:rPr lang="en-US" sz="1100" b="1" dirty="0">
                <a:solidFill>
                  <a:schemeClr val="tx2"/>
                </a:solidFill>
              </a:rPr>
              <a:t>REST API</a:t>
            </a:r>
            <a:endParaRPr lang="en-US" sz="1100" dirty="0"/>
          </a:p>
        </p:txBody>
      </p:sp>
      <p:sp>
        <p:nvSpPr>
          <p:cNvPr id="10" name="Shape 8"/>
          <p:cNvSpPr/>
          <p:nvPr/>
        </p:nvSpPr>
        <p:spPr>
          <a:xfrm>
            <a:off x="3246120" y="4846320"/>
            <a:ext cx="1097280" cy="310896"/>
          </a:xfrm>
          <a:prstGeom prst="roundRect">
            <a:avLst>
              <a:gd name="adj" fmla="val 50000"/>
            </a:avLst>
          </a:prstGeom>
          <a:solidFill>
            <a:schemeClr val="accent2"/>
          </a:solidFill>
          <a:ln/>
        </p:spPr>
      </p:sp>
      <p:sp>
        <p:nvSpPr>
          <p:cNvPr id="11" name="Text 9"/>
          <p:cNvSpPr txBox="1"/>
          <p:nvPr/>
        </p:nvSpPr>
        <p:spPr>
          <a:xfrm>
            <a:off x="3246120" y="4846320"/>
            <a:ext cx="1097280" cy="310896"/>
          </a:xfrm>
          <a:prstGeom prst="rect">
            <a:avLst/>
          </a:prstGeom>
          <a:noFill/>
          <a:ln/>
        </p:spPr>
        <p:txBody>
          <a:bodyPr wrap="square" lIns="0" tIns="0" rIns="0" bIns="0" rtlCol="0" anchor="ctr"/>
          <a:lstStyle/>
          <a:p>
            <a:pPr algn="ctr" indent="0" marL="0">
              <a:buNone/>
            </a:pPr>
            <a:r>
              <a:rPr lang="en-US" sz="1100" b="1" dirty="0">
                <a:solidFill>
                  <a:schemeClr val="tx2"/>
                </a:solidFill>
              </a:rPr>
              <a:t>Serverless</a:t>
            </a:r>
            <a:endParaRPr lang="en-US" sz="1100" dirty="0"/>
          </a:p>
        </p:txBody>
      </p:sp>
      <p:sp>
        <p:nvSpPr>
          <p:cNvPr id="12" name="Text 10"/>
          <p:cNvSpPr txBox="1"/>
          <p:nvPr/>
        </p:nvSpPr>
        <p:spPr>
          <a:xfrm>
            <a:off x="868680" y="4434840"/>
            <a:ext cx="2743200" cy="274320"/>
          </a:xfrm>
          <a:prstGeom prst="rect">
            <a:avLst/>
          </a:prstGeom>
          <a:noFill/>
          <a:ln/>
        </p:spPr>
        <p:txBody>
          <a:bodyPr wrap="square" lIns="0" tIns="0" rIns="0" bIns="0" rtlCol="0" anchor="t"/>
          <a:lstStyle/>
          <a:p>
            <a:pPr indent="0" marL="0">
              <a:buNone/>
            </a:pPr>
            <a:r>
              <a:rPr lang="en-US" sz="1300" dirty="0">
                <a:solidFill>
                  <a:schemeClr val="bg2"/>
                </a:solidFill>
              </a:rPr>
              <a:t>Prototype scope</a:t>
            </a:r>
            <a:endParaRPr lang="en-US" sz="1300" dirty="0"/>
          </a:p>
        </p:txBody>
      </p:sp>
      <p:sp>
        <p:nvSpPr>
          <p:cNvPr id="13" name="Shape 11"/>
          <p:cNvSpPr/>
          <p:nvPr/>
        </p:nvSpPr>
        <p:spPr>
          <a:xfrm>
            <a:off x="5212080" y="1508760"/>
            <a:ext cx="6400800" cy="804672"/>
          </a:xfrm>
          <a:prstGeom prst="roundRect">
            <a:avLst>
              <a:gd name="adj" fmla="val 11364"/>
            </a:avLst>
          </a:prstGeom>
          <a:solidFill>
            <a:schemeClr val="bg2"/>
          </a:solidFill>
          <a:ln/>
        </p:spPr>
      </p:sp>
      <p:sp>
        <p:nvSpPr>
          <p:cNvPr id="14" name="Shape 12"/>
          <p:cNvSpPr/>
          <p:nvPr/>
        </p:nvSpPr>
        <p:spPr>
          <a:xfrm>
            <a:off x="5376672" y="1636776"/>
            <a:ext cx="548640" cy="548640"/>
          </a:xfrm>
          <a:prstGeom prst="ellipse">
            <a:avLst/>
          </a:prstGeom>
          <a:solidFill>
            <a:srgbClr val="173B6B"/>
          </a:solidFill>
          <a:ln/>
        </p:spPr>
      </p:sp>
      <p:pic>
        <p:nvPicPr>
          <p:cNvPr id="15" name="Image 0" descr="preencoded.png">    </p:cNvPr>
          <p:cNvPicPr>
            <a:picLocks noChangeAspect="1"/>
          </p:cNvPicPr>
          <p:nvPr/>
        </p:nvPicPr>
        <p:blipFill>
          <a:blip r:embed="rId1"/>
          <a:stretch>
            <a:fillRect/>
          </a:stretch>
        </p:blipFill>
        <p:spPr>
          <a:xfrm>
            <a:off x="5524805" y="1784909"/>
            <a:ext cx="252374" cy="252374"/>
          </a:xfrm>
          <a:prstGeom prst="rect">
            <a:avLst/>
          </a:prstGeom>
        </p:spPr>
      </p:pic>
      <p:sp>
        <p:nvSpPr>
          <p:cNvPr id="16" name="Text 13"/>
          <p:cNvSpPr txBox="1"/>
          <p:nvPr/>
        </p:nvSpPr>
        <p:spPr>
          <a:xfrm>
            <a:off x="6126480" y="1508760"/>
            <a:ext cx="1371600" cy="804672"/>
          </a:xfrm>
          <a:prstGeom prst="rect">
            <a:avLst/>
          </a:prstGeom>
          <a:noFill/>
          <a:ln/>
        </p:spPr>
        <p:txBody>
          <a:bodyPr wrap="square" lIns="0" tIns="0" rIns="0" bIns="0" rtlCol="0" anchor="ctr"/>
          <a:lstStyle/>
          <a:p>
            <a:pPr indent="0" marL="0">
              <a:buNone/>
            </a:pPr>
            <a:r>
              <a:rPr lang="en-US" sz="1800" b="1" dirty="0">
                <a:solidFill>
                  <a:schemeClr val="tx2"/>
                </a:solidFill>
              </a:rPr>
              <a:t>Receive</a:t>
            </a:r>
            <a:endParaRPr lang="en-US" sz="1800" dirty="0"/>
          </a:p>
        </p:txBody>
      </p:sp>
      <p:sp>
        <p:nvSpPr>
          <p:cNvPr id="17" name="Text 14"/>
          <p:cNvSpPr txBox="1"/>
          <p:nvPr/>
        </p:nvSpPr>
        <p:spPr>
          <a:xfrm>
            <a:off x="7498080" y="1508760"/>
            <a:ext cx="3931920" cy="804672"/>
          </a:xfrm>
          <a:prstGeom prst="rect">
            <a:avLst/>
          </a:prstGeom>
          <a:noFill/>
          <a:ln/>
        </p:spPr>
        <p:txBody>
          <a:bodyPr wrap="square" lIns="0" tIns="0" rIns="0" bIns="0" rtlCol="0" anchor="ctr"/>
          <a:lstStyle/>
          <a:p>
            <a:pPr indent="0" marL="0">
              <a:buNone/>
            </a:pPr>
            <a:r>
              <a:rPr lang="en-US" sz="1400" dirty="0">
                <a:solidFill>
                  <a:schemeClr val="tx1"/>
                </a:solidFill>
              </a:rPr>
              <a:t>Simulated campus events arrive through the REST API</a:t>
            </a:r>
            <a:endParaRPr lang="en-US" sz="1400" dirty="0"/>
          </a:p>
        </p:txBody>
      </p:sp>
      <p:sp>
        <p:nvSpPr>
          <p:cNvPr id="18" name="Shape 15"/>
          <p:cNvSpPr/>
          <p:nvPr/>
        </p:nvSpPr>
        <p:spPr>
          <a:xfrm>
            <a:off x="5212080" y="2423160"/>
            <a:ext cx="6400800" cy="804672"/>
          </a:xfrm>
          <a:prstGeom prst="roundRect">
            <a:avLst>
              <a:gd name="adj" fmla="val 11364"/>
            </a:avLst>
          </a:prstGeom>
          <a:solidFill>
            <a:schemeClr val="bg2"/>
          </a:solidFill>
          <a:ln/>
        </p:spPr>
      </p:sp>
      <p:sp>
        <p:nvSpPr>
          <p:cNvPr id="19" name="Shape 16"/>
          <p:cNvSpPr/>
          <p:nvPr/>
        </p:nvSpPr>
        <p:spPr>
          <a:xfrm>
            <a:off x="5376672" y="2551176"/>
            <a:ext cx="548640" cy="548640"/>
          </a:xfrm>
          <a:prstGeom prst="ellipse">
            <a:avLst/>
          </a:prstGeom>
          <a:solidFill>
            <a:srgbClr val="173B6B"/>
          </a:solidFill>
          <a:ln/>
        </p:spPr>
      </p:sp>
      <p:pic>
        <p:nvPicPr>
          <p:cNvPr id="20" name="Image 1" descr="preencoded.png">    </p:cNvPr>
          <p:cNvPicPr>
            <a:picLocks noChangeAspect="1"/>
          </p:cNvPicPr>
          <p:nvPr/>
        </p:nvPicPr>
        <p:blipFill>
          <a:blip r:embed="rId2"/>
          <a:stretch>
            <a:fillRect/>
          </a:stretch>
        </p:blipFill>
        <p:spPr>
          <a:xfrm>
            <a:off x="5524805" y="2699309"/>
            <a:ext cx="252374" cy="252374"/>
          </a:xfrm>
          <a:prstGeom prst="rect">
            <a:avLst/>
          </a:prstGeom>
        </p:spPr>
      </p:pic>
      <p:sp>
        <p:nvSpPr>
          <p:cNvPr id="21" name="Text 17"/>
          <p:cNvSpPr txBox="1"/>
          <p:nvPr/>
        </p:nvSpPr>
        <p:spPr>
          <a:xfrm>
            <a:off x="6126480" y="2423160"/>
            <a:ext cx="1371600" cy="804672"/>
          </a:xfrm>
          <a:prstGeom prst="rect">
            <a:avLst/>
          </a:prstGeom>
          <a:noFill/>
          <a:ln/>
        </p:spPr>
        <p:txBody>
          <a:bodyPr wrap="square" lIns="0" tIns="0" rIns="0" bIns="0" rtlCol="0" anchor="ctr"/>
          <a:lstStyle/>
          <a:p>
            <a:pPr indent="0" marL="0">
              <a:buNone/>
            </a:pPr>
            <a:r>
              <a:rPr lang="en-US" sz="1800" b="1" dirty="0">
                <a:solidFill>
                  <a:schemeClr val="tx2"/>
                </a:solidFill>
              </a:rPr>
              <a:t>Process</a:t>
            </a:r>
            <a:endParaRPr lang="en-US" sz="1800" dirty="0"/>
          </a:p>
        </p:txBody>
      </p:sp>
      <p:sp>
        <p:nvSpPr>
          <p:cNvPr id="22" name="Text 18"/>
          <p:cNvSpPr txBox="1"/>
          <p:nvPr/>
        </p:nvSpPr>
        <p:spPr>
          <a:xfrm>
            <a:off x="7498080" y="2423160"/>
            <a:ext cx="3931920" cy="804672"/>
          </a:xfrm>
          <a:prstGeom prst="rect">
            <a:avLst/>
          </a:prstGeom>
          <a:noFill/>
          <a:ln/>
        </p:spPr>
        <p:txBody>
          <a:bodyPr wrap="square" lIns="0" tIns="0" rIns="0" bIns="0" rtlCol="0" anchor="ctr"/>
          <a:lstStyle/>
          <a:p>
            <a:pPr indent="0" marL="0">
              <a:buNone/>
            </a:pPr>
            <a:r>
              <a:rPr lang="en-US" sz="1400" dirty="0">
                <a:solidFill>
                  <a:schemeClr val="tx1"/>
                </a:solidFill>
              </a:rPr>
              <a:t>Lambda (Python) handles the application logic</a:t>
            </a:r>
            <a:endParaRPr lang="en-US" sz="1400" dirty="0"/>
          </a:p>
        </p:txBody>
      </p:sp>
      <p:sp>
        <p:nvSpPr>
          <p:cNvPr id="23" name="Shape 19"/>
          <p:cNvSpPr/>
          <p:nvPr/>
        </p:nvSpPr>
        <p:spPr>
          <a:xfrm>
            <a:off x="5212080" y="3337560"/>
            <a:ext cx="6400800" cy="804672"/>
          </a:xfrm>
          <a:prstGeom prst="roundRect">
            <a:avLst>
              <a:gd name="adj" fmla="val 11364"/>
            </a:avLst>
          </a:prstGeom>
          <a:solidFill>
            <a:schemeClr val="bg2"/>
          </a:solidFill>
          <a:ln/>
        </p:spPr>
      </p:sp>
      <p:sp>
        <p:nvSpPr>
          <p:cNvPr id="24" name="Shape 20"/>
          <p:cNvSpPr/>
          <p:nvPr/>
        </p:nvSpPr>
        <p:spPr>
          <a:xfrm>
            <a:off x="5376672" y="3465576"/>
            <a:ext cx="548640" cy="548640"/>
          </a:xfrm>
          <a:prstGeom prst="ellipse">
            <a:avLst/>
          </a:prstGeom>
          <a:solidFill>
            <a:srgbClr val="173B6B"/>
          </a:solidFill>
          <a:ln/>
        </p:spPr>
      </p:sp>
      <p:pic>
        <p:nvPicPr>
          <p:cNvPr id="25" name="Image 2" descr="preencoded.png">    </p:cNvPr>
          <p:cNvPicPr>
            <a:picLocks noChangeAspect="1"/>
          </p:cNvPicPr>
          <p:nvPr/>
        </p:nvPicPr>
        <p:blipFill>
          <a:blip r:embed="rId3"/>
          <a:stretch>
            <a:fillRect/>
          </a:stretch>
        </p:blipFill>
        <p:spPr>
          <a:xfrm>
            <a:off x="5524805" y="3613709"/>
            <a:ext cx="252374" cy="252374"/>
          </a:xfrm>
          <a:prstGeom prst="rect">
            <a:avLst/>
          </a:prstGeom>
        </p:spPr>
      </p:pic>
      <p:sp>
        <p:nvSpPr>
          <p:cNvPr id="26" name="Text 21"/>
          <p:cNvSpPr txBox="1"/>
          <p:nvPr/>
        </p:nvSpPr>
        <p:spPr>
          <a:xfrm>
            <a:off x="6126480" y="3337560"/>
            <a:ext cx="1371600" cy="804672"/>
          </a:xfrm>
          <a:prstGeom prst="rect">
            <a:avLst/>
          </a:prstGeom>
          <a:noFill/>
          <a:ln/>
        </p:spPr>
        <p:txBody>
          <a:bodyPr wrap="square" lIns="0" tIns="0" rIns="0" bIns="0" rtlCol="0" anchor="ctr"/>
          <a:lstStyle/>
          <a:p>
            <a:pPr indent="0" marL="0">
              <a:buNone/>
            </a:pPr>
            <a:r>
              <a:rPr lang="en-US" sz="1800" b="1" dirty="0">
                <a:solidFill>
                  <a:schemeClr val="tx2"/>
                </a:solidFill>
              </a:rPr>
              <a:t>Store</a:t>
            </a:r>
            <a:endParaRPr lang="en-US" sz="1800" dirty="0"/>
          </a:p>
        </p:txBody>
      </p:sp>
      <p:sp>
        <p:nvSpPr>
          <p:cNvPr id="27" name="Text 22"/>
          <p:cNvSpPr txBox="1"/>
          <p:nvPr/>
        </p:nvSpPr>
        <p:spPr>
          <a:xfrm>
            <a:off x="7498080" y="3337560"/>
            <a:ext cx="3931920" cy="804672"/>
          </a:xfrm>
          <a:prstGeom prst="rect">
            <a:avLst/>
          </a:prstGeom>
          <a:noFill/>
          <a:ln/>
        </p:spPr>
        <p:txBody>
          <a:bodyPr wrap="square" lIns="0" tIns="0" rIns="0" bIns="0" rtlCol="0" anchor="ctr"/>
          <a:lstStyle/>
          <a:p>
            <a:pPr indent="0" marL="0">
              <a:buNone/>
            </a:pPr>
            <a:r>
              <a:rPr lang="en-US" sz="1400" dirty="0">
                <a:solidFill>
                  <a:schemeClr val="tx1"/>
                </a:solidFill>
              </a:rPr>
              <a:t>Event records persist in DynamoDB</a:t>
            </a:r>
            <a:endParaRPr lang="en-US" sz="1400" dirty="0"/>
          </a:p>
        </p:txBody>
      </p:sp>
      <p:sp>
        <p:nvSpPr>
          <p:cNvPr id="28" name="Shape 23"/>
          <p:cNvSpPr/>
          <p:nvPr/>
        </p:nvSpPr>
        <p:spPr>
          <a:xfrm>
            <a:off x="5212080" y="4251960"/>
            <a:ext cx="6400800" cy="804672"/>
          </a:xfrm>
          <a:prstGeom prst="roundRect">
            <a:avLst>
              <a:gd name="adj" fmla="val 11364"/>
            </a:avLst>
          </a:prstGeom>
          <a:solidFill>
            <a:schemeClr val="bg2"/>
          </a:solidFill>
          <a:ln/>
        </p:spPr>
      </p:sp>
      <p:sp>
        <p:nvSpPr>
          <p:cNvPr id="29" name="Shape 24"/>
          <p:cNvSpPr/>
          <p:nvPr/>
        </p:nvSpPr>
        <p:spPr>
          <a:xfrm>
            <a:off x="5376672" y="4379976"/>
            <a:ext cx="548640" cy="548640"/>
          </a:xfrm>
          <a:prstGeom prst="ellipse">
            <a:avLst/>
          </a:prstGeom>
          <a:solidFill>
            <a:srgbClr val="173B6B"/>
          </a:solidFill>
          <a:ln/>
        </p:spPr>
      </p:sp>
      <p:pic>
        <p:nvPicPr>
          <p:cNvPr id="30" name="Image 3" descr="preencoded.png">    </p:cNvPr>
          <p:cNvPicPr>
            <a:picLocks noChangeAspect="1"/>
          </p:cNvPicPr>
          <p:nvPr/>
        </p:nvPicPr>
        <p:blipFill>
          <a:blip r:embed="rId4"/>
          <a:stretch>
            <a:fillRect/>
          </a:stretch>
        </p:blipFill>
        <p:spPr>
          <a:xfrm>
            <a:off x="5524805" y="4528109"/>
            <a:ext cx="252374" cy="252374"/>
          </a:xfrm>
          <a:prstGeom prst="rect">
            <a:avLst/>
          </a:prstGeom>
        </p:spPr>
      </p:pic>
      <p:sp>
        <p:nvSpPr>
          <p:cNvPr id="31" name="Text 25"/>
          <p:cNvSpPr txBox="1"/>
          <p:nvPr/>
        </p:nvSpPr>
        <p:spPr>
          <a:xfrm>
            <a:off x="6126480" y="4251960"/>
            <a:ext cx="1371600" cy="804672"/>
          </a:xfrm>
          <a:prstGeom prst="rect">
            <a:avLst/>
          </a:prstGeom>
          <a:noFill/>
          <a:ln/>
        </p:spPr>
        <p:txBody>
          <a:bodyPr wrap="square" lIns="0" tIns="0" rIns="0" bIns="0" rtlCol="0" anchor="ctr"/>
          <a:lstStyle/>
          <a:p>
            <a:pPr indent="0" marL="0">
              <a:buNone/>
            </a:pPr>
            <a:r>
              <a:rPr lang="en-US" sz="1800" b="1" dirty="0">
                <a:solidFill>
                  <a:schemeClr val="tx2"/>
                </a:solidFill>
              </a:rPr>
              <a:t>Calculate</a:t>
            </a:r>
            <a:endParaRPr lang="en-US" sz="1800" dirty="0"/>
          </a:p>
        </p:txBody>
      </p:sp>
      <p:sp>
        <p:nvSpPr>
          <p:cNvPr id="32" name="Text 26"/>
          <p:cNvSpPr txBox="1"/>
          <p:nvPr/>
        </p:nvSpPr>
        <p:spPr>
          <a:xfrm>
            <a:off x="7498080" y="4251960"/>
            <a:ext cx="3931920" cy="804672"/>
          </a:xfrm>
          <a:prstGeom prst="rect">
            <a:avLst/>
          </a:prstGeom>
          <a:noFill/>
          <a:ln/>
        </p:spPr>
        <p:txBody>
          <a:bodyPr wrap="square" lIns="0" tIns="0" rIns="0" bIns="0" rtlCol="0" anchor="ctr"/>
          <a:lstStyle/>
          <a:p>
            <a:pPr indent="0" marL="0">
              <a:buNone/>
            </a:pPr>
            <a:r>
              <a:rPr lang="en-US" sz="1400" dirty="0">
                <a:solidFill>
                  <a:schemeClr val="tx1"/>
                </a:solidFill>
              </a:rPr>
              <a:t>Operational statistics via /stats</a:t>
            </a:r>
            <a:endParaRPr lang="en-US" sz="1400" dirty="0"/>
          </a:p>
        </p:txBody>
      </p:sp>
      <p:sp>
        <p:nvSpPr>
          <p:cNvPr id="33" name="Shape 27"/>
          <p:cNvSpPr/>
          <p:nvPr/>
        </p:nvSpPr>
        <p:spPr>
          <a:xfrm>
            <a:off x="5212080" y="5166360"/>
            <a:ext cx="6400800" cy="804672"/>
          </a:xfrm>
          <a:prstGeom prst="roundRect">
            <a:avLst>
              <a:gd name="adj" fmla="val 11364"/>
            </a:avLst>
          </a:prstGeom>
          <a:solidFill>
            <a:schemeClr val="bg2"/>
          </a:solidFill>
          <a:ln/>
        </p:spPr>
      </p:sp>
      <p:sp>
        <p:nvSpPr>
          <p:cNvPr id="34" name="Shape 28"/>
          <p:cNvSpPr/>
          <p:nvPr/>
        </p:nvSpPr>
        <p:spPr>
          <a:xfrm>
            <a:off x="5376672" y="5294376"/>
            <a:ext cx="548640" cy="548640"/>
          </a:xfrm>
          <a:prstGeom prst="ellipse">
            <a:avLst/>
          </a:prstGeom>
          <a:solidFill>
            <a:srgbClr val="173B6B"/>
          </a:solidFill>
          <a:ln/>
        </p:spPr>
      </p:sp>
      <p:pic>
        <p:nvPicPr>
          <p:cNvPr id="35" name="Image 4" descr="preencoded.png">    </p:cNvPr>
          <p:cNvPicPr>
            <a:picLocks noChangeAspect="1"/>
          </p:cNvPicPr>
          <p:nvPr/>
        </p:nvPicPr>
        <p:blipFill>
          <a:blip r:embed="rId5"/>
          <a:stretch>
            <a:fillRect/>
          </a:stretch>
        </p:blipFill>
        <p:spPr>
          <a:xfrm>
            <a:off x="5524805" y="5442509"/>
            <a:ext cx="252374" cy="252374"/>
          </a:xfrm>
          <a:prstGeom prst="rect">
            <a:avLst/>
          </a:prstGeom>
        </p:spPr>
      </p:pic>
      <p:sp>
        <p:nvSpPr>
          <p:cNvPr id="36" name="Text 29"/>
          <p:cNvSpPr txBox="1"/>
          <p:nvPr/>
        </p:nvSpPr>
        <p:spPr>
          <a:xfrm>
            <a:off x="6126480" y="5166360"/>
            <a:ext cx="1371600" cy="804672"/>
          </a:xfrm>
          <a:prstGeom prst="rect">
            <a:avLst/>
          </a:prstGeom>
          <a:noFill/>
          <a:ln/>
        </p:spPr>
        <p:txBody>
          <a:bodyPr wrap="square" lIns="0" tIns="0" rIns="0" bIns="0" rtlCol="0" anchor="ctr"/>
          <a:lstStyle/>
          <a:p>
            <a:pPr indent="0" marL="0">
              <a:buNone/>
            </a:pPr>
            <a:r>
              <a:rPr lang="en-US" sz="1800" b="1" dirty="0">
                <a:solidFill>
                  <a:schemeClr val="tx2"/>
                </a:solidFill>
              </a:rPr>
              <a:t>Detect</a:t>
            </a:r>
            <a:endParaRPr lang="en-US" sz="1800" dirty="0"/>
          </a:p>
        </p:txBody>
      </p:sp>
      <p:sp>
        <p:nvSpPr>
          <p:cNvPr id="37" name="Text 30"/>
          <p:cNvSpPr txBox="1"/>
          <p:nvPr/>
        </p:nvSpPr>
        <p:spPr>
          <a:xfrm>
            <a:off x="7498080" y="5166360"/>
            <a:ext cx="3931920" cy="804672"/>
          </a:xfrm>
          <a:prstGeom prst="rect">
            <a:avLst/>
          </a:prstGeom>
          <a:noFill/>
          <a:ln/>
        </p:spPr>
        <p:txBody>
          <a:bodyPr wrap="square" lIns="0" tIns="0" rIns="0" bIns="0" rtlCol="0" anchor="ctr"/>
          <a:lstStyle/>
          <a:p>
            <a:pPr indent="0" marL="0">
              <a:buNone/>
            </a:pPr>
            <a:r>
              <a:rPr lang="en-US" sz="1400" dirty="0">
                <a:solidFill>
                  <a:schemeClr val="tx1"/>
                </a:solidFill>
              </a:rPr>
              <a:t>Abnormal readings surfaced via /alerts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AWS architecture</a:t>
            </a:r>
            <a:endParaRPr lang="en-US" sz="3400" dirty="0"/>
          </a:p>
        </p:txBody>
      </p:sp>
      <p:pic>
        <p:nvPicPr>
          <p:cNvPr id="3" name="Image 0" descr="CampusPulse architecture diagram: API Gateway to a single Lambda function to DynamoDB, with IAM, CloudWatch, SAM/CloudFormation and future enhancements">    </p:cNvPr>
          <p:cNvPicPr>
            <a:picLocks noChangeAspect="1"/>
          </p:cNvPicPr>
          <p:nvPr/>
        </p:nvPicPr>
        <p:blipFill>
          <a:blip r:embed="rId1"/>
          <a:stretch>
            <a:fillRect/>
          </a:stretch>
        </p:blipFill>
        <p:spPr>
          <a:xfrm>
            <a:off x="548640" y="1280160"/>
            <a:ext cx="7132320" cy="4754880"/>
          </a:xfrm>
          <a:prstGeom prst="rect">
            <a:avLst/>
          </a:prstGeom>
          <a:effectLst>
            <a:outerShdw sx="100000" sy="100000" kx="0" ky="0" algn="bl" rotWithShape="0" blurRad="76200" dist="25400" dir="5400000">
              <a:srgbClr val="000000">
                <a:alpha val="12000"/>
              </a:srgbClr>
            </a:outerShdw>
          </a:effectLst>
        </p:spPr>
      </p:pic>
      <p:sp>
        <p:nvSpPr>
          <p:cNvPr id="4" name="Text 1"/>
          <p:cNvSpPr txBox="1"/>
          <p:nvPr/>
        </p:nvSpPr>
        <p:spPr>
          <a:xfrm>
            <a:off x="8001000" y="1280160"/>
            <a:ext cx="35661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REQUEST PATH</a:t>
            </a:r>
            <a:endParaRPr lang="en-US" sz="1200" dirty="0"/>
          </a:p>
        </p:txBody>
      </p:sp>
      <p:sp>
        <p:nvSpPr>
          <p:cNvPr id="5" name="Shape 2"/>
          <p:cNvSpPr/>
          <p:nvPr/>
        </p:nvSpPr>
        <p:spPr>
          <a:xfrm>
            <a:off x="8001000" y="1645920"/>
            <a:ext cx="3611880" cy="804672"/>
          </a:xfrm>
          <a:prstGeom prst="roundRect">
            <a:avLst>
              <a:gd name="adj" fmla="val 11364"/>
            </a:avLst>
          </a:prstGeom>
          <a:solidFill>
            <a:schemeClr val="bg2"/>
          </a:solidFill>
          <a:ln/>
        </p:spPr>
      </p:sp>
      <p:sp>
        <p:nvSpPr>
          <p:cNvPr id="6" name="Shape 3"/>
          <p:cNvSpPr/>
          <p:nvPr/>
        </p:nvSpPr>
        <p:spPr>
          <a:xfrm>
            <a:off x="8138160" y="1828800"/>
            <a:ext cx="438912" cy="438912"/>
          </a:xfrm>
          <a:prstGeom prst="ellipse">
            <a:avLst/>
          </a:prstGeom>
          <a:solidFill>
            <a:schemeClr val="accent1"/>
          </a:solidFill>
          <a:ln/>
        </p:spPr>
      </p:sp>
      <p:sp>
        <p:nvSpPr>
          <p:cNvPr id="7" name="Text 4"/>
          <p:cNvSpPr txBox="1"/>
          <p:nvPr/>
        </p:nvSpPr>
        <p:spPr>
          <a:xfrm>
            <a:off x="8138160" y="18288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8732520" y="1645920"/>
            <a:ext cx="2788920" cy="804672"/>
          </a:xfrm>
          <a:prstGeom prst="rect">
            <a:avLst/>
          </a:prstGeom>
          <a:noFill/>
          <a:ln/>
        </p:spPr>
        <p:txBody>
          <a:bodyPr wrap="square" lIns="0" tIns="0" rIns="0" bIns="0" rtlCol="0" anchor="ctr"/>
          <a:lstStyle/>
          <a:p>
            <a:pPr indent="0" marL="0">
              <a:buNone/>
            </a:pPr>
            <a:r>
              <a:rPr lang="en-US" sz="1400" b="1" dirty="0">
                <a:solidFill>
                  <a:schemeClr val="tx2"/>
                </a:solidFill>
              </a:rPr>
              <a:t>Amazon API Gateway</a:t>
            </a:r>
            <a:endParaRPr lang="en-US" sz="1400" dirty="0"/>
          </a:p>
          <a:p>
            <a:pPr indent="0" marL="0">
              <a:buNone/>
            </a:pPr>
            <a:r>
              <a:rPr lang="en-US" sz="1200" dirty="0">
                <a:solidFill>
                  <a:schemeClr val="tx1"/>
                </a:solidFill>
              </a:rPr>
              <a:t>Receives REST calls</a:t>
            </a:r>
            <a:endParaRPr lang="en-US" sz="1400" dirty="0"/>
          </a:p>
        </p:txBody>
      </p:sp>
      <p:sp>
        <p:nvSpPr>
          <p:cNvPr id="9" name="Shape 6"/>
          <p:cNvSpPr/>
          <p:nvPr/>
        </p:nvSpPr>
        <p:spPr>
          <a:xfrm>
            <a:off x="8001000" y="2560320"/>
            <a:ext cx="3611880" cy="804672"/>
          </a:xfrm>
          <a:prstGeom prst="roundRect">
            <a:avLst>
              <a:gd name="adj" fmla="val 11364"/>
            </a:avLst>
          </a:prstGeom>
          <a:solidFill>
            <a:schemeClr val="bg2"/>
          </a:solidFill>
          <a:ln/>
        </p:spPr>
      </p:sp>
      <p:sp>
        <p:nvSpPr>
          <p:cNvPr id="10" name="Shape 7"/>
          <p:cNvSpPr/>
          <p:nvPr/>
        </p:nvSpPr>
        <p:spPr>
          <a:xfrm>
            <a:off x="8138160" y="2743200"/>
            <a:ext cx="438912" cy="438912"/>
          </a:xfrm>
          <a:prstGeom prst="ellipse">
            <a:avLst/>
          </a:prstGeom>
          <a:solidFill>
            <a:schemeClr val="accent1"/>
          </a:solidFill>
          <a:ln/>
        </p:spPr>
      </p:sp>
      <p:sp>
        <p:nvSpPr>
          <p:cNvPr id="11" name="Text 8"/>
          <p:cNvSpPr txBox="1"/>
          <p:nvPr/>
        </p:nvSpPr>
        <p:spPr>
          <a:xfrm>
            <a:off x="8138160" y="27432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732520" y="2560320"/>
            <a:ext cx="2788920" cy="804672"/>
          </a:xfrm>
          <a:prstGeom prst="rect">
            <a:avLst/>
          </a:prstGeom>
          <a:noFill/>
          <a:ln/>
        </p:spPr>
        <p:txBody>
          <a:bodyPr wrap="square" lIns="0" tIns="0" rIns="0" bIns="0" rtlCol="0" anchor="ctr"/>
          <a:lstStyle/>
          <a:p>
            <a:pPr indent="0" marL="0">
              <a:buNone/>
            </a:pPr>
            <a:r>
              <a:rPr lang="en-US" sz="1400" b="1" dirty="0">
                <a:solidFill>
                  <a:schemeClr val="tx2"/>
                </a:solidFill>
              </a:rPr>
              <a:t>AWS Lambda</a:t>
            </a:r>
            <a:endParaRPr lang="en-US" sz="1400" dirty="0"/>
          </a:p>
          <a:p>
            <a:pPr indent="0" marL="0">
              <a:buNone/>
            </a:pPr>
            <a:r>
              <a:rPr lang="en-US" sz="1200" dirty="0">
                <a:solidFill>
                  <a:schemeClr val="tx1"/>
                </a:solidFill>
              </a:rPr>
              <a:t>CampusPulseFunction: one function, five logical operations</a:t>
            </a:r>
            <a:endParaRPr lang="en-US" sz="1400" dirty="0"/>
          </a:p>
        </p:txBody>
      </p:sp>
      <p:sp>
        <p:nvSpPr>
          <p:cNvPr id="13" name="Shape 10"/>
          <p:cNvSpPr/>
          <p:nvPr/>
        </p:nvSpPr>
        <p:spPr>
          <a:xfrm>
            <a:off x="8001000" y="3474720"/>
            <a:ext cx="3611880" cy="804672"/>
          </a:xfrm>
          <a:prstGeom prst="roundRect">
            <a:avLst>
              <a:gd name="adj" fmla="val 11364"/>
            </a:avLst>
          </a:prstGeom>
          <a:solidFill>
            <a:schemeClr val="bg2"/>
          </a:solidFill>
          <a:ln/>
        </p:spPr>
      </p:sp>
      <p:sp>
        <p:nvSpPr>
          <p:cNvPr id="14" name="Shape 11"/>
          <p:cNvSpPr/>
          <p:nvPr/>
        </p:nvSpPr>
        <p:spPr>
          <a:xfrm>
            <a:off x="8138160" y="3657600"/>
            <a:ext cx="438912" cy="438912"/>
          </a:xfrm>
          <a:prstGeom prst="ellipse">
            <a:avLst/>
          </a:prstGeom>
          <a:solidFill>
            <a:schemeClr val="accent1"/>
          </a:solidFill>
          <a:ln/>
        </p:spPr>
      </p:sp>
      <p:sp>
        <p:nvSpPr>
          <p:cNvPr id="15" name="Text 12"/>
          <p:cNvSpPr txBox="1"/>
          <p:nvPr/>
        </p:nvSpPr>
        <p:spPr>
          <a:xfrm>
            <a:off x="8138160" y="36576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8732520" y="3474720"/>
            <a:ext cx="2788920" cy="804672"/>
          </a:xfrm>
          <a:prstGeom prst="rect">
            <a:avLst/>
          </a:prstGeom>
          <a:noFill/>
          <a:ln/>
        </p:spPr>
        <p:txBody>
          <a:bodyPr wrap="square" lIns="0" tIns="0" rIns="0" bIns="0" rtlCol="0" anchor="ctr"/>
          <a:lstStyle/>
          <a:p>
            <a:pPr indent="0" marL="0">
              <a:buNone/>
            </a:pPr>
            <a:r>
              <a:rPr lang="en-US" sz="1400" b="1" dirty="0">
                <a:solidFill>
                  <a:schemeClr val="tx2"/>
                </a:solidFill>
              </a:rPr>
              <a:t>Amazon DynamoDB</a:t>
            </a:r>
            <a:endParaRPr lang="en-US" sz="1400" dirty="0"/>
          </a:p>
          <a:p>
            <a:pPr indent="0" marL="0">
              <a:buNone/>
            </a:pPr>
            <a:r>
              <a:rPr lang="en-US" sz="1200" dirty="0">
                <a:solidFill>
                  <a:schemeClr val="tx1"/>
                </a:solidFill>
              </a:rPr>
              <a:t>Table CampusPulseEvents</a:t>
            </a:r>
            <a:endParaRPr lang="en-US" sz="1400" dirty="0"/>
          </a:p>
        </p:txBody>
      </p:sp>
      <p:sp>
        <p:nvSpPr>
          <p:cNvPr id="17" name="Text 14"/>
          <p:cNvSpPr txBox="1"/>
          <p:nvPr/>
        </p:nvSpPr>
        <p:spPr>
          <a:xfrm>
            <a:off x="8001000" y="4480560"/>
            <a:ext cx="3611880" cy="868680"/>
          </a:xfrm>
          <a:prstGeom prst="rect">
            <a:avLst/>
          </a:prstGeom>
          <a:noFill/>
          <a:ln/>
        </p:spPr>
        <p:txBody>
          <a:bodyPr wrap="square" lIns="0" tIns="0" rIns="0" bIns="0" rtlCol="0" anchor="t"/>
          <a:lstStyle/>
          <a:p>
            <a:pPr indent="0" marL="0">
              <a:buNone/>
            </a:pPr>
            <a:r>
              <a:rPr lang="en-US" sz="1300" b="1" dirty="0">
                <a:solidFill>
                  <a:schemeClr val="tx2"/>
                </a:solidFill>
              </a:rPr>
              <a:t>Supporting: </a:t>
            </a:r>
            <a:pPr indent="0" marL="0">
              <a:buNone/>
            </a:pPr>
            <a:r>
              <a:rPr lang="en-US" sz="1300" dirty="0">
                <a:solidFill>
                  <a:schemeClr val="tx1"/>
                </a:solidFill>
              </a:rPr>
              <a:t>IAM (permissions, Lambda execution role) · CloudWatch (logs, monitoring) · SAM / CloudFormation (deployment)</a:t>
            </a:r>
            <a:endParaRPr lang="en-US" sz="1300" dirty="0"/>
          </a:p>
        </p:txBody>
      </p:sp>
      <p:sp>
        <p:nvSpPr>
          <p:cNvPr id="18" name="Shape 15"/>
          <p:cNvSpPr/>
          <p:nvPr/>
        </p:nvSpPr>
        <p:spPr>
          <a:xfrm>
            <a:off x="8001000" y="5486400"/>
            <a:ext cx="1554480" cy="310896"/>
          </a:xfrm>
          <a:prstGeom prst="roundRect">
            <a:avLst>
              <a:gd name="adj" fmla="val 50000"/>
            </a:avLst>
          </a:prstGeom>
          <a:solidFill>
            <a:schemeClr val="accent2"/>
          </a:solidFill>
          <a:ln/>
        </p:spPr>
      </p:sp>
      <p:sp>
        <p:nvSpPr>
          <p:cNvPr id="19" name="Text 16"/>
          <p:cNvSpPr txBox="1"/>
          <p:nvPr/>
        </p:nvSpPr>
        <p:spPr>
          <a:xfrm>
            <a:off x="8001000" y="5486400"/>
            <a:ext cx="1554480" cy="310896"/>
          </a:xfrm>
          <a:prstGeom prst="rect">
            <a:avLst/>
          </a:prstGeom>
          <a:noFill/>
          <a:ln/>
        </p:spPr>
        <p:txBody>
          <a:bodyPr wrap="square" lIns="0" tIns="0" rIns="0" bIns="0" rtlCol="0" anchor="ctr"/>
          <a:lstStyle/>
          <a:p>
            <a:pPr algn="ctr" indent="0" marL="0">
              <a:buNone/>
            </a:pPr>
            <a:r>
              <a:rPr lang="en-US" sz="1100" b="1" dirty="0">
                <a:solidFill>
                  <a:schemeClr val="tx2"/>
                </a:solidFill>
              </a:rPr>
              <a:t>Implemented</a:t>
            </a:r>
            <a:endParaRPr lang="en-US" sz="1100" dirty="0"/>
          </a:p>
        </p:txBody>
      </p:sp>
      <p:sp>
        <p:nvSpPr>
          <p:cNvPr id="20" name="Shape 17"/>
          <p:cNvSpPr/>
          <p:nvPr/>
        </p:nvSpPr>
        <p:spPr>
          <a:xfrm>
            <a:off x="9692640" y="5486400"/>
            <a:ext cx="1920240" cy="310896"/>
          </a:xfrm>
          <a:prstGeom prst="roundRect">
            <a:avLst>
              <a:gd name="adj" fmla="val 50000"/>
            </a:avLst>
          </a:prstGeom>
          <a:solidFill>
            <a:schemeClr val="accent3"/>
          </a:solidFill>
          <a:ln/>
        </p:spPr>
      </p:sp>
      <p:sp>
        <p:nvSpPr>
          <p:cNvPr id="21" name="Text 18"/>
          <p:cNvSpPr txBox="1"/>
          <p:nvPr/>
        </p:nvSpPr>
        <p:spPr>
          <a:xfrm>
            <a:off x="9692640" y="5486400"/>
            <a:ext cx="1920240" cy="310896"/>
          </a:xfrm>
          <a:prstGeom prst="rect">
            <a:avLst/>
          </a:prstGeom>
          <a:noFill/>
          <a:ln/>
        </p:spPr>
        <p:txBody>
          <a:bodyPr wrap="square" lIns="0" tIns="0" rIns="0" bIns="0" rtlCol="0" anchor="ctr"/>
          <a:lstStyle/>
          <a:p>
            <a:pPr algn="ctr" indent="0" marL="0">
              <a:buNone/>
            </a:pPr>
            <a:r>
              <a:rPr lang="en-US" sz="1100" b="1" dirty="0">
                <a:solidFill>
                  <a:schemeClr val="tx2"/>
                </a:solidFill>
              </a:rPr>
              <a:t>Future (not deployed)</a:t>
            </a:r>
            <a:endParaRPr lang="en-US" sz="1100" dirty="0"/>
          </a:p>
        </p:txBody>
      </p:sp>
      <p:sp>
        <p:nvSpPr>
          <p:cNvPr id="22" name="Text 19"/>
          <p:cNvSpPr txBox="1"/>
          <p:nvPr/>
        </p:nvSpPr>
        <p:spPr>
          <a:xfrm>
            <a:off x="8001000" y="5870448"/>
            <a:ext cx="3611880" cy="274320"/>
          </a:xfrm>
          <a:prstGeom prst="rect">
            <a:avLst/>
          </a:prstGeom>
          <a:noFill/>
          <a:ln/>
        </p:spPr>
        <p:txBody>
          <a:bodyPr wrap="square" lIns="0" tIns="0" rIns="0" bIns="0" rtlCol="0" anchor="t"/>
          <a:lstStyle/>
          <a:p>
            <a:pPr indent="0" marL="0">
              <a:buNone/>
            </a:pPr>
            <a:r>
              <a:rPr lang="en-US" sz="1100" dirty="0">
                <a:solidFill>
                  <a:schemeClr val="accent4"/>
                </a:solidFill>
              </a:rPr>
              <a:t>Orange band at the bottom of the diagram = future enhancements only.</a:t>
            </a:r>
            <a:endParaRPr lang="en-US" sz="11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Technology stack and data flow</a:t>
            </a:r>
            <a:endParaRPr lang="en-US" sz="3400" dirty="0"/>
          </a:p>
        </p:txBody>
      </p:sp>
      <p:sp>
        <p:nvSpPr>
          <p:cNvPr id="3" name="Shape 1"/>
          <p:cNvSpPr/>
          <p:nvPr/>
        </p:nvSpPr>
        <p:spPr>
          <a:xfrm>
            <a:off x="585216" y="1463040"/>
            <a:ext cx="2377440" cy="1051560"/>
          </a:xfrm>
          <a:prstGeom prst="roundRect">
            <a:avLst>
              <a:gd name="adj" fmla="val 8696"/>
            </a:avLst>
          </a:prstGeom>
          <a:solidFill>
            <a:schemeClr val="bg1"/>
          </a:solidFill>
          <a:ln w="31750">
            <a:solidFill>
              <a:schemeClr val="accent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22376" y="1463040"/>
            <a:ext cx="2103120" cy="1051560"/>
          </a:xfrm>
          <a:prstGeom prst="rect">
            <a:avLst/>
          </a:prstGeom>
          <a:noFill/>
          <a:ln/>
        </p:spPr>
        <p:txBody>
          <a:bodyPr wrap="square" lIns="0" tIns="0" rIns="0" bIns="0" rtlCol="0" anchor="ctr"/>
          <a:lstStyle/>
          <a:p>
            <a:pPr algn="ctr" indent="0" marL="0">
              <a:buNone/>
            </a:pPr>
            <a:r>
              <a:rPr lang="en-US" sz="1800" b="1" dirty="0">
                <a:solidFill>
                  <a:schemeClr val="tx2"/>
                </a:solidFill>
              </a:rPr>
              <a:t>Python event generator</a:t>
            </a:r>
            <a:endParaRPr lang="en-US" sz="1800" dirty="0"/>
          </a:p>
        </p:txBody>
      </p:sp>
      <p:sp>
        <p:nvSpPr>
          <p:cNvPr id="5" name="Text 3"/>
          <p:cNvSpPr txBox="1"/>
          <p:nvPr/>
        </p:nvSpPr>
        <p:spPr>
          <a:xfrm>
            <a:off x="585216" y="2697480"/>
            <a:ext cx="2377440" cy="1005840"/>
          </a:xfrm>
          <a:prstGeom prst="rect">
            <a:avLst/>
          </a:prstGeom>
          <a:noFill/>
          <a:ln/>
        </p:spPr>
        <p:txBody>
          <a:bodyPr wrap="square" lIns="0" tIns="0" rIns="0" bIns="0" rtlCol="0" anchor="t"/>
          <a:lstStyle/>
          <a:p>
            <a:pPr algn="ctr" indent="0" marL="0">
              <a:buNone/>
            </a:pPr>
            <a:r>
              <a:rPr lang="en-US" sz="1400" dirty="0">
                <a:solidFill>
                  <a:schemeClr val="tx1"/>
                </a:solidFill>
              </a:rPr>
              <a:t>Simulates campus events and posts them to the API</a:t>
            </a:r>
            <a:endParaRPr lang="en-US" sz="1400" dirty="0"/>
          </a:p>
        </p:txBody>
      </p:sp>
      <p:sp>
        <p:nvSpPr>
          <p:cNvPr id="6" name="Shape 4"/>
          <p:cNvSpPr/>
          <p:nvPr/>
        </p:nvSpPr>
        <p:spPr>
          <a:xfrm>
            <a:off x="3008376" y="1993392"/>
            <a:ext cx="411480" cy="0"/>
          </a:xfrm>
          <a:prstGeom prst="line">
            <a:avLst/>
          </a:prstGeom>
          <a:noFill/>
          <a:ln w="25400">
            <a:solidFill>
              <a:schemeClr val="accent2"/>
            </a:solidFill>
            <a:prstDash val="solid"/>
            <a:tailEnd type="triangle"/>
          </a:ln>
        </p:spPr>
      </p:sp>
      <p:sp>
        <p:nvSpPr>
          <p:cNvPr id="7" name="Shape 5"/>
          <p:cNvSpPr/>
          <p:nvPr/>
        </p:nvSpPr>
        <p:spPr>
          <a:xfrm>
            <a:off x="3465576" y="1463040"/>
            <a:ext cx="2377440" cy="1051560"/>
          </a:xfrm>
          <a:prstGeom prst="roundRect">
            <a:avLst>
              <a:gd name="adj" fmla="val 8696"/>
            </a:avLst>
          </a:prstGeom>
          <a:solidFill>
            <a:schemeClr val="accent1"/>
          </a:solidFill>
          <a:ln/>
          <a:effectLst>
            <a:outerShdw sx="100000" sy="100000" kx="0" ky="0" algn="bl" rotWithShape="0" blurRad="76200" dist="25400" dir="5400000">
              <a:srgbClr val="000000">
                <a:alpha val="12000"/>
              </a:srgbClr>
            </a:outerShdw>
          </a:effectLst>
        </p:spPr>
      </p:sp>
      <p:sp>
        <p:nvSpPr>
          <p:cNvPr id="8" name="Text 6"/>
          <p:cNvSpPr txBox="1"/>
          <p:nvPr/>
        </p:nvSpPr>
        <p:spPr>
          <a:xfrm>
            <a:off x="3602736" y="1463040"/>
            <a:ext cx="2103120" cy="1051560"/>
          </a:xfrm>
          <a:prstGeom prst="rect">
            <a:avLst/>
          </a:prstGeom>
          <a:noFill/>
          <a:ln/>
        </p:spPr>
        <p:txBody>
          <a:bodyPr wrap="square" lIns="0" tIns="0" rIns="0" bIns="0" rtlCol="0" anchor="ctr"/>
          <a:lstStyle/>
          <a:p>
            <a:pPr algn="ctr" indent="0" marL="0">
              <a:buNone/>
            </a:pPr>
            <a:r>
              <a:rPr lang="en-US" sz="1800" b="1" dirty="0">
                <a:solidFill>
                  <a:schemeClr val="bg1"/>
                </a:solidFill>
              </a:rPr>
              <a:t>Amazon API Gateway</a:t>
            </a:r>
            <a:endParaRPr lang="en-US" sz="1800" dirty="0"/>
          </a:p>
        </p:txBody>
      </p:sp>
      <p:sp>
        <p:nvSpPr>
          <p:cNvPr id="9" name="Text 7"/>
          <p:cNvSpPr txBox="1"/>
          <p:nvPr/>
        </p:nvSpPr>
        <p:spPr>
          <a:xfrm>
            <a:off x="3465576" y="2697480"/>
            <a:ext cx="2377440" cy="1005840"/>
          </a:xfrm>
          <a:prstGeom prst="rect">
            <a:avLst/>
          </a:prstGeom>
          <a:noFill/>
          <a:ln/>
        </p:spPr>
        <p:txBody>
          <a:bodyPr wrap="square" lIns="0" tIns="0" rIns="0" bIns="0" rtlCol="0" anchor="t"/>
          <a:lstStyle/>
          <a:p>
            <a:pPr algn="ctr" indent="0" marL="0">
              <a:buNone/>
            </a:pPr>
            <a:r>
              <a:rPr lang="en-US" sz="1400" dirty="0">
                <a:solidFill>
                  <a:schemeClr val="tx1"/>
                </a:solidFill>
              </a:rPr>
              <a:t>Exposes REST endpoints and routes each request</a:t>
            </a:r>
            <a:endParaRPr lang="en-US" sz="1400" dirty="0"/>
          </a:p>
        </p:txBody>
      </p:sp>
      <p:sp>
        <p:nvSpPr>
          <p:cNvPr id="10" name="Shape 8"/>
          <p:cNvSpPr/>
          <p:nvPr/>
        </p:nvSpPr>
        <p:spPr>
          <a:xfrm>
            <a:off x="5888736" y="1993392"/>
            <a:ext cx="411480" cy="0"/>
          </a:xfrm>
          <a:prstGeom prst="line">
            <a:avLst/>
          </a:prstGeom>
          <a:noFill/>
          <a:ln w="25400">
            <a:solidFill>
              <a:schemeClr val="accent2"/>
            </a:solidFill>
            <a:prstDash val="solid"/>
            <a:tailEnd type="triangle"/>
          </a:ln>
        </p:spPr>
      </p:sp>
      <p:sp>
        <p:nvSpPr>
          <p:cNvPr id="11" name="Shape 9"/>
          <p:cNvSpPr/>
          <p:nvPr/>
        </p:nvSpPr>
        <p:spPr>
          <a:xfrm>
            <a:off x="6345936" y="1463040"/>
            <a:ext cx="2377440" cy="1051560"/>
          </a:xfrm>
          <a:prstGeom prst="roundRect">
            <a:avLst>
              <a:gd name="adj" fmla="val 8696"/>
            </a:avLst>
          </a:prstGeom>
          <a:solidFill>
            <a:schemeClr val="accent1"/>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483096" y="1463040"/>
            <a:ext cx="2103120" cy="1051560"/>
          </a:xfrm>
          <a:prstGeom prst="rect">
            <a:avLst/>
          </a:prstGeom>
          <a:noFill/>
          <a:ln/>
        </p:spPr>
        <p:txBody>
          <a:bodyPr wrap="square" lIns="0" tIns="0" rIns="0" bIns="0" rtlCol="0" anchor="ctr"/>
          <a:lstStyle/>
          <a:p>
            <a:pPr algn="ctr" indent="0" marL="0">
              <a:buNone/>
            </a:pPr>
            <a:r>
              <a:rPr lang="en-US" sz="1800" b="1" dirty="0">
                <a:solidFill>
                  <a:schemeClr val="bg1"/>
                </a:solidFill>
              </a:rPr>
              <a:t>AWS Lambda</a:t>
            </a:r>
            <a:endParaRPr lang="en-US" sz="1800" dirty="0"/>
          </a:p>
        </p:txBody>
      </p:sp>
      <p:sp>
        <p:nvSpPr>
          <p:cNvPr id="13" name="Text 11"/>
          <p:cNvSpPr txBox="1"/>
          <p:nvPr/>
        </p:nvSpPr>
        <p:spPr>
          <a:xfrm>
            <a:off x="6345936" y="2697480"/>
            <a:ext cx="2377440" cy="1005840"/>
          </a:xfrm>
          <a:prstGeom prst="rect">
            <a:avLst/>
          </a:prstGeom>
          <a:noFill/>
          <a:ln/>
        </p:spPr>
        <p:txBody>
          <a:bodyPr wrap="square" lIns="0" tIns="0" rIns="0" bIns="0" rtlCol="0" anchor="t"/>
          <a:lstStyle/>
          <a:p>
            <a:pPr algn="ctr" indent="0" marL="0">
              <a:buNone/>
            </a:pPr>
            <a:r>
              <a:rPr lang="en-US" sz="1400" dirty="0">
                <a:solidFill>
                  <a:schemeClr val="tx1"/>
                </a:solidFill>
              </a:rPr>
              <a:t>CampusPulseFunction: Python logic, five logical operations</a:t>
            </a:r>
            <a:endParaRPr lang="en-US" sz="1400" dirty="0"/>
          </a:p>
        </p:txBody>
      </p:sp>
      <p:sp>
        <p:nvSpPr>
          <p:cNvPr id="14" name="Shape 12"/>
          <p:cNvSpPr/>
          <p:nvPr/>
        </p:nvSpPr>
        <p:spPr>
          <a:xfrm>
            <a:off x="8769096" y="1993392"/>
            <a:ext cx="411480" cy="0"/>
          </a:xfrm>
          <a:prstGeom prst="line">
            <a:avLst/>
          </a:prstGeom>
          <a:noFill/>
          <a:ln w="25400">
            <a:solidFill>
              <a:schemeClr val="accent2"/>
            </a:solidFill>
            <a:prstDash val="solid"/>
            <a:tailEnd type="triangle"/>
          </a:ln>
        </p:spPr>
      </p:sp>
      <p:sp>
        <p:nvSpPr>
          <p:cNvPr id="15" name="Shape 13"/>
          <p:cNvSpPr/>
          <p:nvPr/>
        </p:nvSpPr>
        <p:spPr>
          <a:xfrm>
            <a:off x="9226296" y="1463040"/>
            <a:ext cx="2377440" cy="1051560"/>
          </a:xfrm>
          <a:prstGeom prst="roundRect">
            <a:avLst>
              <a:gd name="adj" fmla="val 8696"/>
            </a:avLst>
          </a:prstGeom>
          <a:solidFill>
            <a:schemeClr val="accent1"/>
          </a:solidFill>
          <a:ln/>
          <a:effectLst>
            <a:outerShdw sx="100000" sy="100000" kx="0" ky="0" algn="bl" rotWithShape="0" blurRad="76200" dist="25400" dir="5400000">
              <a:srgbClr val="000000">
                <a:alpha val="12000"/>
              </a:srgbClr>
            </a:outerShdw>
          </a:effectLst>
        </p:spPr>
      </p:sp>
      <p:sp>
        <p:nvSpPr>
          <p:cNvPr id="16" name="Text 14"/>
          <p:cNvSpPr txBox="1"/>
          <p:nvPr/>
        </p:nvSpPr>
        <p:spPr>
          <a:xfrm>
            <a:off x="9363456" y="1463040"/>
            <a:ext cx="2103120" cy="1051560"/>
          </a:xfrm>
          <a:prstGeom prst="rect">
            <a:avLst/>
          </a:prstGeom>
          <a:noFill/>
          <a:ln/>
        </p:spPr>
        <p:txBody>
          <a:bodyPr wrap="square" lIns="0" tIns="0" rIns="0" bIns="0" rtlCol="0" anchor="ctr"/>
          <a:lstStyle/>
          <a:p>
            <a:pPr algn="ctr" indent="0" marL="0">
              <a:buNone/>
            </a:pPr>
            <a:r>
              <a:rPr lang="en-US" sz="1800" b="1" dirty="0">
                <a:solidFill>
                  <a:schemeClr val="bg1"/>
                </a:solidFill>
              </a:rPr>
              <a:t>Amazon DynamoDB</a:t>
            </a:r>
            <a:endParaRPr lang="en-US" sz="1800" dirty="0"/>
          </a:p>
        </p:txBody>
      </p:sp>
      <p:sp>
        <p:nvSpPr>
          <p:cNvPr id="17" name="Text 15"/>
          <p:cNvSpPr txBox="1"/>
          <p:nvPr/>
        </p:nvSpPr>
        <p:spPr>
          <a:xfrm>
            <a:off x="9226296" y="2697480"/>
            <a:ext cx="2377440" cy="1005840"/>
          </a:xfrm>
          <a:prstGeom prst="rect">
            <a:avLst/>
          </a:prstGeom>
          <a:noFill/>
          <a:ln/>
        </p:spPr>
        <p:txBody>
          <a:bodyPr wrap="square" lIns="0" tIns="0" rIns="0" bIns="0" rtlCol="0" anchor="t"/>
          <a:lstStyle/>
          <a:p>
            <a:pPr algn="ctr" indent="0" marL="0">
              <a:buNone/>
            </a:pPr>
            <a:r>
              <a:rPr lang="en-US" sz="1400" dirty="0">
                <a:solidFill>
                  <a:schemeClr val="tx1"/>
                </a:solidFill>
              </a:rPr>
              <a:t>Table CampusPulseEvents stores event records</a:t>
            </a:r>
            <a:endParaRPr lang="en-US" sz="1400" dirty="0"/>
          </a:p>
        </p:txBody>
      </p:sp>
      <p:sp>
        <p:nvSpPr>
          <p:cNvPr id="18" name="Text 16"/>
          <p:cNvSpPr txBox="1"/>
          <p:nvPr/>
        </p:nvSpPr>
        <p:spPr>
          <a:xfrm>
            <a:off x="585216" y="3931920"/>
            <a:ext cx="45720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SUPPORTING SERVICES</a:t>
            </a:r>
            <a:endParaRPr lang="en-US" sz="1200" dirty="0"/>
          </a:p>
        </p:txBody>
      </p:sp>
      <p:sp>
        <p:nvSpPr>
          <p:cNvPr id="19" name="Shape 17"/>
          <p:cNvSpPr/>
          <p:nvPr/>
        </p:nvSpPr>
        <p:spPr>
          <a:xfrm>
            <a:off x="585216" y="4297680"/>
            <a:ext cx="3520440" cy="1554480"/>
          </a:xfrm>
          <a:prstGeom prst="roundRect">
            <a:avLst>
              <a:gd name="adj" fmla="val 5882"/>
            </a:avLst>
          </a:prstGeom>
          <a:solidFill>
            <a:schemeClr val="bg2"/>
          </a:solidFill>
          <a:ln/>
        </p:spPr>
      </p:sp>
      <p:sp>
        <p:nvSpPr>
          <p:cNvPr id="20" name="Shape 18"/>
          <p:cNvSpPr/>
          <p:nvPr/>
        </p:nvSpPr>
        <p:spPr>
          <a:xfrm>
            <a:off x="813816" y="4526280"/>
            <a:ext cx="548640" cy="548640"/>
          </a:xfrm>
          <a:prstGeom prst="ellipse">
            <a:avLst/>
          </a:prstGeom>
          <a:solidFill>
            <a:srgbClr val="1FB6D1"/>
          </a:solidFill>
          <a:ln/>
        </p:spPr>
      </p:sp>
      <p:pic>
        <p:nvPicPr>
          <p:cNvPr id="21" name="Image 0" descr="preencoded.png">    </p:cNvPr>
          <p:cNvPicPr>
            <a:picLocks noChangeAspect="1"/>
          </p:cNvPicPr>
          <p:nvPr/>
        </p:nvPicPr>
        <p:blipFill>
          <a:blip r:embed="rId1"/>
          <a:stretch>
            <a:fillRect/>
          </a:stretch>
        </p:blipFill>
        <p:spPr>
          <a:xfrm>
            <a:off x="961949" y="4674413"/>
            <a:ext cx="252374" cy="252374"/>
          </a:xfrm>
          <a:prstGeom prst="rect">
            <a:avLst/>
          </a:prstGeom>
        </p:spPr>
      </p:pic>
      <p:sp>
        <p:nvSpPr>
          <p:cNvPr id="22" name="Text 19"/>
          <p:cNvSpPr txBox="1"/>
          <p:nvPr/>
        </p:nvSpPr>
        <p:spPr>
          <a:xfrm>
            <a:off x="1545336" y="452628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AWS IAM</a:t>
            </a:r>
            <a:endParaRPr lang="en-US" sz="1700" dirty="0"/>
          </a:p>
        </p:txBody>
      </p:sp>
      <p:sp>
        <p:nvSpPr>
          <p:cNvPr id="23" name="Text 20"/>
          <p:cNvSpPr txBox="1"/>
          <p:nvPr/>
        </p:nvSpPr>
        <p:spPr>
          <a:xfrm>
            <a:off x="813816" y="5212080"/>
            <a:ext cx="3108960" cy="548640"/>
          </a:xfrm>
          <a:prstGeom prst="rect">
            <a:avLst/>
          </a:prstGeom>
          <a:noFill/>
          <a:ln/>
        </p:spPr>
        <p:txBody>
          <a:bodyPr wrap="square" lIns="0" tIns="0" rIns="0" bIns="0" rtlCol="0" anchor="t"/>
          <a:lstStyle/>
          <a:p>
            <a:pPr indent="0" marL="0">
              <a:buNone/>
            </a:pPr>
            <a:r>
              <a:rPr lang="en-US" sz="1400" dirty="0">
                <a:solidFill>
                  <a:schemeClr val="tx1"/>
                </a:solidFill>
              </a:rPr>
              <a:t>Permissions, including the Lambda execution role</a:t>
            </a:r>
            <a:endParaRPr lang="en-US" sz="1400" dirty="0"/>
          </a:p>
        </p:txBody>
      </p:sp>
      <p:sp>
        <p:nvSpPr>
          <p:cNvPr id="24" name="Shape 21"/>
          <p:cNvSpPr/>
          <p:nvPr/>
        </p:nvSpPr>
        <p:spPr>
          <a:xfrm>
            <a:off x="4334256" y="4297680"/>
            <a:ext cx="3520440" cy="1554480"/>
          </a:xfrm>
          <a:prstGeom prst="roundRect">
            <a:avLst>
              <a:gd name="adj" fmla="val 5882"/>
            </a:avLst>
          </a:prstGeom>
          <a:solidFill>
            <a:schemeClr val="bg2"/>
          </a:solidFill>
          <a:ln/>
        </p:spPr>
      </p:sp>
      <p:sp>
        <p:nvSpPr>
          <p:cNvPr id="25" name="Shape 22"/>
          <p:cNvSpPr/>
          <p:nvPr/>
        </p:nvSpPr>
        <p:spPr>
          <a:xfrm>
            <a:off x="4562856" y="4526280"/>
            <a:ext cx="548640" cy="548640"/>
          </a:xfrm>
          <a:prstGeom prst="ellipse">
            <a:avLst/>
          </a:prstGeom>
          <a:solidFill>
            <a:srgbClr val="1FB6D1"/>
          </a:solidFill>
          <a:ln/>
        </p:spPr>
      </p:sp>
      <p:pic>
        <p:nvPicPr>
          <p:cNvPr id="26" name="Image 1" descr="preencoded.png">    </p:cNvPr>
          <p:cNvPicPr>
            <a:picLocks noChangeAspect="1"/>
          </p:cNvPicPr>
          <p:nvPr/>
        </p:nvPicPr>
        <p:blipFill>
          <a:blip r:embed="rId2"/>
          <a:stretch>
            <a:fillRect/>
          </a:stretch>
        </p:blipFill>
        <p:spPr>
          <a:xfrm>
            <a:off x="4710989" y="4674413"/>
            <a:ext cx="252374" cy="252374"/>
          </a:xfrm>
          <a:prstGeom prst="rect">
            <a:avLst/>
          </a:prstGeom>
        </p:spPr>
      </p:pic>
      <p:sp>
        <p:nvSpPr>
          <p:cNvPr id="27" name="Text 23"/>
          <p:cNvSpPr txBox="1"/>
          <p:nvPr/>
        </p:nvSpPr>
        <p:spPr>
          <a:xfrm>
            <a:off x="5294376" y="452628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Amazon CloudWatch</a:t>
            </a:r>
            <a:endParaRPr lang="en-US" sz="1700" dirty="0"/>
          </a:p>
        </p:txBody>
      </p:sp>
      <p:sp>
        <p:nvSpPr>
          <p:cNvPr id="28" name="Text 24"/>
          <p:cNvSpPr txBox="1"/>
          <p:nvPr/>
        </p:nvSpPr>
        <p:spPr>
          <a:xfrm>
            <a:off x="4562856" y="5212080"/>
            <a:ext cx="3108960" cy="548640"/>
          </a:xfrm>
          <a:prstGeom prst="rect">
            <a:avLst/>
          </a:prstGeom>
          <a:noFill/>
          <a:ln/>
        </p:spPr>
        <p:txBody>
          <a:bodyPr wrap="square" lIns="0" tIns="0" rIns="0" bIns="0" rtlCol="0" anchor="t"/>
          <a:lstStyle/>
          <a:p>
            <a:pPr indent="0" marL="0">
              <a:buNone/>
            </a:pPr>
            <a:r>
              <a:rPr lang="en-US" sz="1400" dirty="0">
                <a:solidFill>
                  <a:schemeClr val="tx1"/>
                </a:solidFill>
              </a:rPr>
              <a:t>Lambda execution logs and monitoring</a:t>
            </a:r>
            <a:endParaRPr lang="en-US" sz="1400" dirty="0"/>
          </a:p>
        </p:txBody>
      </p:sp>
      <p:sp>
        <p:nvSpPr>
          <p:cNvPr id="29" name="Shape 25"/>
          <p:cNvSpPr/>
          <p:nvPr/>
        </p:nvSpPr>
        <p:spPr>
          <a:xfrm>
            <a:off x="8083296" y="4297680"/>
            <a:ext cx="3520440" cy="1554480"/>
          </a:xfrm>
          <a:prstGeom prst="roundRect">
            <a:avLst>
              <a:gd name="adj" fmla="val 5882"/>
            </a:avLst>
          </a:prstGeom>
          <a:solidFill>
            <a:schemeClr val="bg2"/>
          </a:solidFill>
          <a:ln/>
        </p:spPr>
      </p:sp>
      <p:sp>
        <p:nvSpPr>
          <p:cNvPr id="30" name="Shape 26"/>
          <p:cNvSpPr/>
          <p:nvPr/>
        </p:nvSpPr>
        <p:spPr>
          <a:xfrm>
            <a:off x="8311896" y="4526280"/>
            <a:ext cx="548640" cy="548640"/>
          </a:xfrm>
          <a:prstGeom prst="ellipse">
            <a:avLst/>
          </a:prstGeom>
          <a:solidFill>
            <a:srgbClr val="1FB6D1"/>
          </a:solidFill>
          <a:ln/>
        </p:spPr>
      </p:sp>
      <p:pic>
        <p:nvPicPr>
          <p:cNvPr id="31" name="Image 2" descr="preencoded.png">    </p:cNvPr>
          <p:cNvPicPr>
            <a:picLocks noChangeAspect="1"/>
          </p:cNvPicPr>
          <p:nvPr/>
        </p:nvPicPr>
        <p:blipFill>
          <a:blip r:embed="rId3"/>
          <a:stretch>
            <a:fillRect/>
          </a:stretch>
        </p:blipFill>
        <p:spPr>
          <a:xfrm>
            <a:off x="8460029" y="4674413"/>
            <a:ext cx="252374" cy="252374"/>
          </a:xfrm>
          <a:prstGeom prst="rect">
            <a:avLst/>
          </a:prstGeom>
        </p:spPr>
      </p:pic>
      <p:sp>
        <p:nvSpPr>
          <p:cNvPr id="32" name="Text 27"/>
          <p:cNvSpPr txBox="1"/>
          <p:nvPr/>
        </p:nvSpPr>
        <p:spPr>
          <a:xfrm>
            <a:off x="9043416" y="452628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AWS SAM / CloudFormation</a:t>
            </a:r>
            <a:endParaRPr lang="en-US" sz="1700" dirty="0"/>
          </a:p>
        </p:txBody>
      </p:sp>
      <p:sp>
        <p:nvSpPr>
          <p:cNvPr id="33" name="Text 28"/>
          <p:cNvSpPr txBox="1"/>
          <p:nvPr/>
        </p:nvSpPr>
        <p:spPr>
          <a:xfrm>
            <a:off x="8311896" y="5212080"/>
            <a:ext cx="3108960" cy="548640"/>
          </a:xfrm>
          <a:prstGeom prst="rect">
            <a:avLst/>
          </a:prstGeom>
          <a:noFill/>
          <a:ln/>
        </p:spPr>
        <p:txBody>
          <a:bodyPr wrap="square" lIns="0" tIns="0" rIns="0" bIns="0" rtlCol="0" anchor="t"/>
          <a:lstStyle/>
          <a:p>
            <a:pPr indent="0" marL="0">
              <a:buNone/>
            </a:pPr>
            <a:r>
              <a:rPr lang="en-US" sz="1400" dirty="0">
                <a:solidFill>
                  <a:schemeClr val="tx1"/>
                </a:solidFill>
              </a:rPr>
              <a:t>Infrastructure definition and deployment</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API functionality and implementation</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6035040" cy="914400"/>
        </p:xfrm>
        <a:graphic>
          <a:graphicData uri="http://schemas.openxmlformats.org/drawingml/2006/table">
            <a:tbl>
              <a:tblPr/>
              <a:tblGrid>
                <a:gridCol w="1737360"/>
                <a:gridCol w="4297680"/>
              </a:tblGrid>
              <a:tr h="548640">
                <a:tc>
                  <a:txBody>
                    <a:bodyPr/>
                    <a:lstStyle/>
                    <a:p>
                      <a:pPr indent="0" marL="0">
                        <a:buNone/>
                      </a:pPr>
                      <a:r>
                        <a:rPr lang="en-US" sz="1400" b="1" dirty="0">
                          <a:solidFill>
                            <a:schemeClr val="bg1"/>
                          </a:solidFill>
                        </a:rPr>
                        <a:t>Endpoint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rPr>
                        <a:t>Purpose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r>
              <a:tr h="548640">
                <a:tc>
                  <a:txBody>
                    <a:bodyPr/>
                    <a:lstStyle/>
                    <a:p>
                      <a:pPr indent="0" marL="0">
                        <a:buNone/>
                      </a:pPr>
                      <a:r>
                        <a:rPr lang="en-US" sz="1500" b="1" dirty="0">
                          <a:solidFill>
                            <a:schemeClr val="tx2"/>
                          </a:solidFill>
                          <a:latin typeface="Courier New" pitchFamily="34" charset="0"/>
                          <a:ea typeface="Courier New" pitchFamily="34" charset="-122"/>
                          <a:cs typeface="Courier New" pitchFamily="34" charset="-120"/>
                        </a:rPr>
                        <a:t>/health</a:t>
                      </a:r>
                      <a:endParaRPr lang="en-US" sz="15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rgbClr val="000000"/>
                          </a:solidFill>
                        </a:rPr>
                        <a:t>Checks application health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500" b="1" dirty="0">
                          <a:solidFill>
                            <a:schemeClr val="tx2"/>
                          </a:solidFill>
                          <a:latin typeface="Courier New" pitchFamily="34" charset="0"/>
                          <a:ea typeface="Courier New" pitchFamily="34" charset="-122"/>
                          <a:cs typeface="Courier New" pitchFamily="34" charset="-120"/>
                        </a:rPr>
                        <a:t>/login</a:t>
                      </a:r>
                      <a:endParaRPr lang="en-US" sz="15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rgbClr val="000000"/>
                          </a:solidFill>
                        </a:rPr>
                        <a:t>Authenticates users (role-based login)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500" b="1" dirty="0">
                          <a:solidFill>
                            <a:schemeClr val="tx2"/>
                          </a:solidFill>
                          <a:latin typeface="Courier New" pitchFamily="34" charset="0"/>
                          <a:ea typeface="Courier New" pitchFamily="34" charset="-122"/>
                          <a:cs typeface="Courier New" pitchFamily="34" charset="-120"/>
                        </a:rPr>
                        <a:t>/events</a:t>
                      </a:r>
                      <a:endParaRPr lang="en-US" sz="15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rgbClr val="000000"/>
                          </a:solidFill>
                        </a:rPr>
                        <a:t>Handles campus event records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500" b="1" dirty="0">
                          <a:solidFill>
                            <a:schemeClr val="tx2"/>
                          </a:solidFill>
                          <a:latin typeface="Courier New" pitchFamily="34" charset="0"/>
                          <a:ea typeface="Courier New" pitchFamily="34" charset="-122"/>
                          <a:cs typeface="Courier New" pitchFamily="34" charset="-120"/>
                        </a:rPr>
                        <a:t>/stats</a:t>
                      </a:r>
                      <a:endParaRPr lang="en-US" sz="15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rgbClr val="000000"/>
                          </a:solidFill>
                        </a:rPr>
                        <a:t>Returns operational statistics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500" b="1" dirty="0">
                          <a:solidFill>
                            <a:schemeClr val="tx2"/>
                          </a:solidFill>
                          <a:latin typeface="Courier New" pitchFamily="34" charset="0"/>
                          <a:ea typeface="Courier New" pitchFamily="34" charset="-122"/>
                          <a:cs typeface="Courier New" pitchFamily="34" charset="-120"/>
                        </a:rPr>
                        <a:t>/alerts</a:t>
                      </a:r>
                      <a:endParaRPr lang="en-US" sz="15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rgbClr val="000000"/>
                          </a:solidFill>
                        </a:rPr>
                        <a:t>Retrieves alert information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Shape 1"/>
          <p:cNvSpPr/>
          <p:nvPr/>
        </p:nvSpPr>
        <p:spPr>
          <a:xfrm>
            <a:off x="566928" y="5029200"/>
            <a:ext cx="6035040" cy="1005840"/>
          </a:xfrm>
          <a:prstGeom prst="roundRect">
            <a:avLst>
              <a:gd name="adj" fmla="val 9091"/>
            </a:avLst>
          </a:prstGeom>
          <a:solidFill>
            <a:schemeClr val="tx2"/>
          </a:solidFill>
          <a:ln/>
        </p:spPr>
      </p:sp>
      <p:sp>
        <p:nvSpPr>
          <p:cNvPr id="5" name="Text 2"/>
          <p:cNvSpPr txBox="1"/>
          <p:nvPr/>
        </p:nvSpPr>
        <p:spPr>
          <a:xfrm>
            <a:off x="777240" y="5029200"/>
            <a:ext cx="5669280" cy="1005840"/>
          </a:xfrm>
          <a:prstGeom prst="rect">
            <a:avLst/>
          </a:prstGeom>
          <a:noFill/>
          <a:ln/>
        </p:spPr>
        <p:txBody>
          <a:bodyPr wrap="square" lIns="0" tIns="0" rIns="0" bIns="0" rtlCol="0" anchor="ctr"/>
          <a:lstStyle/>
          <a:p>
            <a:pPr indent="0" marL="0">
              <a:buNone/>
            </a:pPr>
            <a:r>
              <a:rPr lang="en-US" sz="1400" b="1" dirty="0">
                <a:solidFill>
                  <a:schemeClr val="accent2"/>
                </a:solidFill>
              </a:rPr>
              <a:t>One deployed Lambda function </a:t>
            </a:r>
            <a:pPr indent="0" marL="0">
              <a:buNone/>
            </a:pPr>
            <a:r>
              <a:rPr lang="en-US" sz="1400" dirty="0">
                <a:solidFill>
                  <a:schemeClr val="bg1"/>
                </a:solidFill>
              </a:rPr>
              <a:t>(CampusPulseFunction) handles all five operations. They are logical operations, not five separate functions.</a:t>
            </a:r>
            <a:endParaRPr lang="en-US" sz="1400" dirty="0"/>
          </a:p>
        </p:txBody>
      </p:sp>
      <p:sp>
        <p:nvSpPr>
          <p:cNvPr id="6" name="Text 3"/>
          <p:cNvSpPr txBox="1"/>
          <p:nvPr/>
        </p:nvSpPr>
        <p:spPr>
          <a:xfrm>
            <a:off x="7040880" y="1508760"/>
            <a:ext cx="45720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LIFE OF A SIMULATED EVENT</a:t>
            </a:r>
            <a:endParaRPr lang="en-US" sz="1200" dirty="0"/>
          </a:p>
        </p:txBody>
      </p:sp>
      <p:sp>
        <p:nvSpPr>
          <p:cNvPr id="7" name="Shape 4"/>
          <p:cNvSpPr/>
          <p:nvPr/>
        </p:nvSpPr>
        <p:spPr>
          <a:xfrm>
            <a:off x="7040880" y="1993392"/>
            <a:ext cx="502920" cy="502920"/>
          </a:xfrm>
          <a:prstGeom prst="ellipse">
            <a:avLst/>
          </a:prstGeom>
          <a:solidFill>
            <a:schemeClr val="accent1"/>
          </a:solidFill>
          <a:ln/>
        </p:spPr>
      </p:sp>
      <p:sp>
        <p:nvSpPr>
          <p:cNvPr id="8" name="Text 5"/>
          <p:cNvSpPr txBox="1"/>
          <p:nvPr/>
        </p:nvSpPr>
        <p:spPr>
          <a:xfrm>
            <a:off x="7040880" y="199339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7772400" y="1920240"/>
            <a:ext cx="3840480" cy="658368"/>
          </a:xfrm>
          <a:prstGeom prst="rect">
            <a:avLst/>
          </a:prstGeom>
          <a:noFill/>
          <a:ln/>
        </p:spPr>
        <p:txBody>
          <a:bodyPr wrap="square" lIns="0" tIns="0" rIns="0" bIns="0" rtlCol="0" anchor="ctr"/>
          <a:lstStyle/>
          <a:p>
            <a:pPr indent="0" marL="0">
              <a:buNone/>
            </a:pPr>
            <a:r>
              <a:rPr lang="en-US" sz="1500" dirty="0">
                <a:solidFill>
                  <a:schemeClr val="tx1"/>
                </a:solidFill>
              </a:rPr>
              <a:t>Python generator sends a simulated event to the API</a:t>
            </a:r>
            <a:endParaRPr lang="en-US" sz="1500" dirty="0"/>
          </a:p>
        </p:txBody>
      </p:sp>
      <p:sp>
        <p:nvSpPr>
          <p:cNvPr id="10" name="Shape 7"/>
          <p:cNvSpPr/>
          <p:nvPr/>
        </p:nvSpPr>
        <p:spPr>
          <a:xfrm>
            <a:off x="7292340" y="2514600"/>
            <a:ext cx="0" cy="228600"/>
          </a:xfrm>
          <a:prstGeom prst="line">
            <a:avLst/>
          </a:prstGeom>
          <a:noFill/>
          <a:ln w="19050">
            <a:solidFill>
              <a:schemeClr val="accent4"/>
            </a:solidFill>
            <a:prstDash val="solid"/>
          </a:ln>
        </p:spPr>
      </p:sp>
      <p:sp>
        <p:nvSpPr>
          <p:cNvPr id="11" name="Shape 8"/>
          <p:cNvSpPr/>
          <p:nvPr/>
        </p:nvSpPr>
        <p:spPr>
          <a:xfrm>
            <a:off x="7040880" y="2816352"/>
            <a:ext cx="502920" cy="502920"/>
          </a:xfrm>
          <a:prstGeom prst="ellipse">
            <a:avLst/>
          </a:prstGeom>
          <a:solidFill>
            <a:schemeClr val="accent1"/>
          </a:solidFill>
          <a:ln/>
        </p:spPr>
      </p:sp>
      <p:sp>
        <p:nvSpPr>
          <p:cNvPr id="12" name="Text 9"/>
          <p:cNvSpPr txBox="1"/>
          <p:nvPr/>
        </p:nvSpPr>
        <p:spPr>
          <a:xfrm>
            <a:off x="7040880" y="281635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7772400" y="2743200"/>
            <a:ext cx="3840480" cy="658368"/>
          </a:xfrm>
          <a:prstGeom prst="rect">
            <a:avLst/>
          </a:prstGeom>
          <a:noFill/>
          <a:ln/>
        </p:spPr>
        <p:txBody>
          <a:bodyPr wrap="square" lIns="0" tIns="0" rIns="0" bIns="0" rtlCol="0" anchor="ctr"/>
          <a:lstStyle/>
          <a:p>
            <a:pPr indent="0" marL="0">
              <a:buNone/>
            </a:pPr>
            <a:r>
              <a:rPr lang="en-US" sz="1500" dirty="0">
                <a:solidFill>
                  <a:schemeClr val="tx1"/>
                </a:solidFill>
              </a:rPr>
              <a:t>API Gateway receives and routes the request</a:t>
            </a:r>
            <a:endParaRPr lang="en-US" sz="1500" dirty="0"/>
          </a:p>
        </p:txBody>
      </p:sp>
      <p:sp>
        <p:nvSpPr>
          <p:cNvPr id="14" name="Shape 11"/>
          <p:cNvSpPr/>
          <p:nvPr/>
        </p:nvSpPr>
        <p:spPr>
          <a:xfrm>
            <a:off x="7292340" y="3337560"/>
            <a:ext cx="0" cy="228600"/>
          </a:xfrm>
          <a:prstGeom prst="line">
            <a:avLst/>
          </a:prstGeom>
          <a:noFill/>
          <a:ln w="19050">
            <a:solidFill>
              <a:schemeClr val="accent4"/>
            </a:solidFill>
            <a:prstDash val="solid"/>
          </a:ln>
        </p:spPr>
      </p:sp>
      <p:sp>
        <p:nvSpPr>
          <p:cNvPr id="15" name="Shape 12"/>
          <p:cNvSpPr/>
          <p:nvPr/>
        </p:nvSpPr>
        <p:spPr>
          <a:xfrm>
            <a:off x="7040880" y="3639312"/>
            <a:ext cx="502920" cy="502920"/>
          </a:xfrm>
          <a:prstGeom prst="ellipse">
            <a:avLst/>
          </a:prstGeom>
          <a:solidFill>
            <a:schemeClr val="accent1"/>
          </a:solidFill>
          <a:ln/>
        </p:spPr>
      </p:sp>
      <p:sp>
        <p:nvSpPr>
          <p:cNvPr id="16" name="Text 13"/>
          <p:cNvSpPr txBox="1"/>
          <p:nvPr/>
        </p:nvSpPr>
        <p:spPr>
          <a:xfrm>
            <a:off x="7040880" y="363931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7772400" y="3566160"/>
            <a:ext cx="3840480" cy="658368"/>
          </a:xfrm>
          <a:prstGeom prst="rect">
            <a:avLst/>
          </a:prstGeom>
          <a:noFill/>
          <a:ln/>
        </p:spPr>
        <p:txBody>
          <a:bodyPr wrap="square" lIns="0" tIns="0" rIns="0" bIns="0" rtlCol="0" anchor="ctr"/>
          <a:lstStyle/>
          <a:p>
            <a:pPr indent="0" marL="0">
              <a:buNone/>
            </a:pPr>
            <a:r>
              <a:rPr lang="en-US" sz="1500" dirty="0">
                <a:solidFill>
                  <a:schemeClr val="tx1"/>
                </a:solidFill>
              </a:rPr>
              <a:t>Lambda validates and processes the event</a:t>
            </a:r>
            <a:endParaRPr lang="en-US" sz="1500" dirty="0"/>
          </a:p>
        </p:txBody>
      </p:sp>
      <p:sp>
        <p:nvSpPr>
          <p:cNvPr id="18" name="Shape 15"/>
          <p:cNvSpPr/>
          <p:nvPr/>
        </p:nvSpPr>
        <p:spPr>
          <a:xfrm>
            <a:off x="7292340" y="4160520"/>
            <a:ext cx="0" cy="228600"/>
          </a:xfrm>
          <a:prstGeom prst="line">
            <a:avLst/>
          </a:prstGeom>
          <a:noFill/>
          <a:ln w="19050">
            <a:solidFill>
              <a:schemeClr val="accent4"/>
            </a:solidFill>
            <a:prstDash val="solid"/>
          </a:ln>
        </p:spPr>
      </p:sp>
      <p:sp>
        <p:nvSpPr>
          <p:cNvPr id="19" name="Shape 16"/>
          <p:cNvSpPr/>
          <p:nvPr/>
        </p:nvSpPr>
        <p:spPr>
          <a:xfrm>
            <a:off x="7040880" y="4462272"/>
            <a:ext cx="502920" cy="502920"/>
          </a:xfrm>
          <a:prstGeom prst="ellipse">
            <a:avLst/>
          </a:prstGeom>
          <a:solidFill>
            <a:schemeClr val="accent1"/>
          </a:solidFill>
          <a:ln/>
        </p:spPr>
      </p:sp>
      <p:sp>
        <p:nvSpPr>
          <p:cNvPr id="20" name="Text 17"/>
          <p:cNvSpPr txBox="1"/>
          <p:nvPr/>
        </p:nvSpPr>
        <p:spPr>
          <a:xfrm>
            <a:off x="7040880" y="446227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8"/>
          <p:cNvSpPr txBox="1"/>
          <p:nvPr/>
        </p:nvSpPr>
        <p:spPr>
          <a:xfrm>
            <a:off x="7772400" y="4389120"/>
            <a:ext cx="3840480" cy="658368"/>
          </a:xfrm>
          <a:prstGeom prst="rect">
            <a:avLst/>
          </a:prstGeom>
          <a:noFill/>
          <a:ln/>
        </p:spPr>
        <p:txBody>
          <a:bodyPr wrap="square" lIns="0" tIns="0" rIns="0" bIns="0" rtlCol="0" anchor="ctr"/>
          <a:lstStyle/>
          <a:p>
            <a:pPr indent="0" marL="0">
              <a:buNone/>
            </a:pPr>
            <a:r>
              <a:rPr lang="en-US" sz="1500" dirty="0">
                <a:solidFill>
                  <a:schemeClr val="tx1"/>
                </a:solidFill>
              </a:rPr>
              <a:t>DynamoDB stores the record in CampusPulseEvents</a:t>
            </a:r>
            <a:endParaRPr lang="en-US" sz="1500" dirty="0"/>
          </a:p>
        </p:txBody>
      </p:sp>
      <p:sp>
        <p:nvSpPr>
          <p:cNvPr id="22" name="Shape 19"/>
          <p:cNvSpPr/>
          <p:nvPr/>
        </p:nvSpPr>
        <p:spPr>
          <a:xfrm>
            <a:off x="7292340" y="4983480"/>
            <a:ext cx="0" cy="228600"/>
          </a:xfrm>
          <a:prstGeom prst="line">
            <a:avLst/>
          </a:prstGeom>
          <a:noFill/>
          <a:ln w="19050">
            <a:solidFill>
              <a:schemeClr val="accent4"/>
            </a:solidFill>
            <a:prstDash val="solid"/>
          </a:ln>
        </p:spPr>
      </p:sp>
      <p:sp>
        <p:nvSpPr>
          <p:cNvPr id="23" name="Shape 20"/>
          <p:cNvSpPr/>
          <p:nvPr/>
        </p:nvSpPr>
        <p:spPr>
          <a:xfrm>
            <a:off x="7040880" y="5285232"/>
            <a:ext cx="502920" cy="502920"/>
          </a:xfrm>
          <a:prstGeom prst="ellipse">
            <a:avLst/>
          </a:prstGeom>
          <a:solidFill>
            <a:schemeClr val="accent3"/>
          </a:solidFill>
          <a:ln/>
        </p:spPr>
      </p:sp>
      <p:sp>
        <p:nvSpPr>
          <p:cNvPr id="24" name="Text 21"/>
          <p:cNvSpPr txBox="1"/>
          <p:nvPr/>
        </p:nvSpPr>
        <p:spPr>
          <a:xfrm>
            <a:off x="7040880" y="5285232"/>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5" name="Text 22"/>
          <p:cNvSpPr txBox="1"/>
          <p:nvPr/>
        </p:nvSpPr>
        <p:spPr>
          <a:xfrm>
            <a:off x="7772400" y="5212080"/>
            <a:ext cx="3840480" cy="658368"/>
          </a:xfrm>
          <a:prstGeom prst="rect">
            <a:avLst/>
          </a:prstGeom>
          <a:noFill/>
          <a:ln/>
        </p:spPr>
        <p:txBody>
          <a:bodyPr wrap="square" lIns="0" tIns="0" rIns="0" bIns="0" rtlCol="0" anchor="ctr"/>
          <a:lstStyle/>
          <a:p>
            <a:pPr indent="0" marL="0">
              <a:buNone/>
            </a:pPr>
            <a:r>
              <a:rPr lang="en-US" sz="1500" dirty="0">
                <a:solidFill>
                  <a:schemeClr val="tx1"/>
                </a:solidFill>
              </a:rPr>
              <a:t>/stats and /alerts compute results from stored data</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Testing and results</a:t>
            </a:r>
            <a:endParaRPr lang="en-US" sz="3400" dirty="0"/>
          </a:p>
        </p:txBody>
      </p:sp>
      <p:sp>
        <p:nvSpPr>
          <p:cNvPr id="3" name="Text 1"/>
          <p:cNvSpPr txBox="1"/>
          <p:nvPr/>
        </p:nvSpPr>
        <p:spPr>
          <a:xfrm>
            <a:off x="566928" y="1417320"/>
            <a:ext cx="512064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VERIFIED /stats RESULT (after login)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5120640" cy="914400"/>
        </p:xfrm>
        <a:graphic>
          <a:graphicData uri="http://schemas.openxmlformats.org/drawingml/2006/table">
            <a:tbl>
              <a:tblPr/>
              <a:tblGrid>
                <a:gridCol w="3017520"/>
                <a:gridCol w="2103120"/>
              </a:tblGrid>
              <a:tr h="512064">
                <a:tc>
                  <a:txBody>
                    <a:bodyPr/>
                    <a:lstStyle/>
                    <a:p>
                      <a:pPr indent="0" marL="0">
                        <a:buNone/>
                      </a:pPr>
                      <a:r>
                        <a:rPr lang="en-US" sz="1400" b="1" dirty="0">
                          <a:solidFill>
                            <a:schemeClr val="bg1"/>
                          </a:solidFill>
                        </a:rPr>
                        <a:t>Metric</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Value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r>
              <a:tr h="512064">
                <a:tc>
                  <a:txBody>
                    <a:bodyPr/>
                    <a:lstStyle/>
                    <a:p>
                      <a:pPr indent="0" marL="0">
                        <a:buNone/>
                      </a:pPr>
                      <a:r>
                        <a:rPr lang="en-US" sz="1500" dirty="0">
                          <a:solidFill>
                            <a:srgbClr val="000000"/>
                          </a:solidFill>
                        </a:rPr>
                        <a:t>Total events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b="1" dirty="0">
                          <a:solidFill>
                            <a:schemeClr val="tx2"/>
                          </a:solidFill>
                        </a:rPr>
                        <a:t>5</a:t>
                      </a:r>
                      <a:endParaRPr lang="en-US" sz="16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rgbClr val="000000"/>
                          </a:solidFill>
                        </a:rPr>
                        <a:t>Latest occupancy</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600" b="1" dirty="0">
                          <a:solidFill>
                            <a:schemeClr val="tx2"/>
                          </a:solidFill>
                        </a:rPr>
                        <a:t>180 people</a:t>
                      </a:r>
                      <a:endParaRPr lang="en-US" sz="16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500" dirty="0">
                          <a:solidFill>
                            <a:srgbClr val="000000"/>
                          </a:solidFill>
                        </a:rPr>
                        <a:t>Energy readings count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b="1" dirty="0">
                          <a:solidFill>
                            <a:schemeClr val="tx2"/>
                          </a:solidFill>
                        </a:rPr>
                        <a:t>1</a:t>
                      </a:r>
                      <a:endParaRPr lang="en-US" sz="16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rgbClr val="000000"/>
                          </a:solidFill>
                        </a:rPr>
                        <a:t>Sum of energy values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600" b="1" dirty="0">
                          <a:solidFill>
                            <a:schemeClr val="tx2"/>
                          </a:solidFill>
                        </a:rPr>
                        <a:t>18.5 kWh</a:t>
                      </a:r>
                      <a:endParaRPr lang="en-US" sz="16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500" dirty="0">
                          <a:solidFill>
                            <a:srgbClr val="000000"/>
                          </a:solidFill>
                        </a:rPr>
                        <a:t>Alert count</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600" b="1" dirty="0">
                          <a:solidFill>
                            <a:schemeClr val="tx2"/>
                          </a:solidFill>
                        </a:rPr>
                        <a:t>3</a:t>
                      </a:r>
                      <a:endParaRPr lang="en-US" sz="16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Shape 2"/>
          <p:cNvSpPr/>
          <p:nvPr/>
        </p:nvSpPr>
        <p:spPr>
          <a:xfrm>
            <a:off x="566928" y="5029200"/>
            <a:ext cx="5120640" cy="1051560"/>
          </a:xfrm>
          <a:prstGeom prst="roundRect">
            <a:avLst>
              <a:gd name="adj" fmla="val 8696"/>
            </a:avLst>
          </a:prstGeom>
          <a:solidFill>
            <a:schemeClr val="bg2"/>
          </a:solidFill>
          <a:ln w="25400">
            <a:solidFill>
              <a:schemeClr val="accent3"/>
            </a:solidFill>
            <a:prstDash val="solid"/>
          </a:ln>
        </p:spPr>
      </p:sp>
      <p:sp>
        <p:nvSpPr>
          <p:cNvPr id="6" name="Text 3"/>
          <p:cNvSpPr txBox="1"/>
          <p:nvPr/>
        </p:nvSpPr>
        <p:spPr>
          <a:xfrm>
            <a:off x="749808" y="5029200"/>
            <a:ext cx="4754880" cy="1051560"/>
          </a:xfrm>
          <a:prstGeom prst="rect">
            <a:avLst/>
          </a:prstGeom>
          <a:noFill/>
          <a:ln/>
        </p:spPr>
        <p:txBody>
          <a:bodyPr wrap="square" lIns="0" tIns="0" rIns="0" bIns="0" rtlCol="0" anchor="ctr"/>
          <a:lstStyle/>
          <a:p>
            <a:pPr indent="0" marL="0">
              <a:buNone/>
            </a:pPr>
            <a:r>
              <a:rPr lang="en-US" sz="1400" b="1" dirty="0">
                <a:solidFill>
                  <a:schemeClr val="accent6"/>
                </a:solidFill>
              </a:rPr>
              <a:t>Note: </a:t>
            </a:r>
            <a:pPr indent="0" marL="0">
              <a:buNone/>
            </a:pPr>
            <a:r>
              <a:rPr lang="en-US" sz="1400" dirty="0">
                <a:solidFill>
                  <a:schemeClr val="tx1"/>
                </a:solidFill>
              </a:rPr>
              <a:t>occupancy 180 is the aggregated latest occupancy across rooms, not necessarily one room.</a:t>
            </a:r>
            <a:endParaRPr lang="en-US" sz="1400" dirty="0"/>
          </a:p>
        </p:txBody>
      </p:sp>
      <p:sp>
        <p:nvSpPr>
          <p:cNvPr id="7" name="Shape 4"/>
          <p:cNvSpPr/>
          <p:nvPr/>
        </p:nvSpPr>
        <p:spPr>
          <a:xfrm>
            <a:off x="6217920" y="1417320"/>
            <a:ext cx="1691640" cy="1600200"/>
          </a:xfrm>
          <a:prstGeom prst="roundRect">
            <a:avLst>
              <a:gd name="adj" fmla="val 5714"/>
            </a:avLst>
          </a:prstGeom>
          <a:solidFill>
            <a:schemeClr val="tx2"/>
          </a:solidFill>
          <a:ln/>
        </p:spPr>
      </p:sp>
      <p:sp>
        <p:nvSpPr>
          <p:cNvPr id="8" name="Text 5"/>
          <p:cNvSpPr txBox="1"/>
          <p:nvPr/>
        </p:nvSpPr>
        <p:spPr>
          <a:xfrm>
            <a:off x="6217920" y="1508760"/>
            <a:ext cx="1691640" cy="594360"/>
          </a:xfrm>
          <a:prstGeom prst="rect">
            <a:avLst/>
          </a:prstGeom>
          <a:noFill/>
          <a:ln/>
        </p:spPr>
        <p:txBody>
          <a:bodyPr wrap="square" lIns="0" tIns="0" rIns="0" bIns="0" rtlCol="0" anchor="ctr"/>
          <a:lstStyle/>
          <a:p>
            <a:pPr algn="ctr" indent="0" marL="0">
              <a:buNone/>
            </a:pPr>
            <a:r>
              <a:rPr lang="en-US" sz="3400" b="1" dirty="0">
                <a:solidFill>
                  <a:schemeClr val="accent2"/>
                </a:solidFill>
              </a:rPr>
              <a:t>6/6</a:t>
            </a:r>
            <a:endParaRPr lang="en-US" sz="3400" dirty="0"/>
          </a:p>
        </p:txBody>
      </p:sp>
      <p:sp>
        <p:nvSpPr>
          <p:cNvPr id="9" name="Text 6"/>
          <p:cNvSpPr txBox="1"/>
          <p:nvPr/>
        </p:nvSpPr>
        <p:spPr>
          <a:xfrm>
            <a:off x="6327648" y="2103120"/>
            <a:ext cx="1472184" cy="868680"/>
          </a:xfrm>
          <a:prstGeom prst="rect">
            <a:avLst/>
          </a:prstGeom>
          <a:noFill/>
          <a:ln/>
        </p:spPr>
        <p:txBody>
          <a:bodyPr wrap="square" lIns="0" tIns="0" rIns="0" bIns="0" rtlCol="0" anchor="t"/>
          <a:lstStyle/>
          <a:p>
            <a:pPr algn="ctr" indent="0" marL="0">
              <a:buNone/>
            </a:pPr>
            <a:r>
              <a:rPr lang="en-US" sz="1200" dirty="0">
                <a:solidFill>
                  <a:schemeClr val="bg1"/>
                </a:solidFill>
              </a:rPr>
              <a:t>Unit tests passed</a:t>
            </a:r>
            <a:endParaRPr lang="en-US" sz="1200" dirty="0"/>
          </a:p>
        </p:txBody>
      </p:sp>
      <p:sp>
        <p:nvSpPr>
          <p:cNvPr id="10" name="Shape 7"/>
          <p:cNvSpPr/>
          <p:nvPr/>
        </p:nvSpPr>
        <p:spPr>
          <a:xfrm>
            <a:off x="8046720" y="1417320"/>
            <a:ext cx="1691640" cy="1600200"/>
          </a:xfrm>
          <a:prstGeom prst="roundRect">
            <a:avLst>
              <a:gd name="adj" fmla="val 5714"/>
            </a:avLst>
          </a:prstGeom>
          <a:solidFill>
            <a:schemeClr val="tx2"/>
          </a:solidFill>
          <a:ln/>
        </p:spPr>
      </p:sp>
      <p:pic>
        <p:nvPicPr>
          <p:cNvPr id="11" name="Image 0" descr="preencoded.png">    </p:cNvPr>
          <p:cNvPicPr>
            <a:picLocks noChangeAspect="1"/>
          </p:cNvPicPr>
          <p:nvPr/>
        </p:nvPicPr>
        <p:blipFill>
          <a:blip r:embed="rId1"/>
          <a:stretch>
            <a:fillRect/>
          </a:stretch>
        </p:blipFill>
        <p:spPr>
          <a:xfrm>
            <a:off x="8668512" y="1554480"/>
            <a:ext cx="457200" cy="457200"/>
          </a:xfrm>
          <a:prstGeom prst="rect">
            <a:avLst/>
          </a:prstGeom>
        </p:spPr>
      </p:pic>
      <p:sp>
        <p:nvSpPr>
          <p:cNvPr id="12" name="Text 8"/>
          <p:cNvSpPr txBox="1"/>
          <p:nvPr/>
        </p:nvSpPr>
        <p:spPr>
          <a:xfrm>
            <a:off x="8156448" y="2103120"/>
            <a:ext cx="1472184" cy="868680"/>
          </a:xfrm>
          <a:prstGeom prst="rect">
            <a:avLst/>
          </a:prstGeom>
          <a:noFill/>
          <a:ln/>
        </p:spPr>
        <p:txBody>
          <a:bodyPr wrap="square" lIns="0" tIns="0" rIns="0" bIns="0" rtlCol="0" anchor="t"/>
          <a:lstStyle/>
          <a:p>
            <a:pPr algn="ctr" indent="0" marL="0">
              <a:buNone/>
            </a:pPr>
            <a:r>
              <a:rPr lang="en-US" sz="1200" dirty="0">
                <a:solidFill>
                  <a:schemeClr val="bg1"/>
                </a:solidFill>
              </a:rPr>
              <a:t>SAM build and template validation succeeded</a:t>
            </a:r>
            <a:endParaRPr lang="en-US" sz="1200" dirty="0"/>
          </a:p>
        </p:txBody>
      </p:sp>
      <p:sp>
        <p:nvSpPr>
          <p:cNvPr id="13" name="Shape 9"/>
          <p:cNvSpPr/>
          <p:nvPr/>
        </p:nvSpPr>
        <p:spPr>
          <a:xfrm>
            <a:off x="9875520" y="1417320"/>
            <a:ext cx="1691640" cy="1600200"/>
          </a:xfrm>
          <a:prstGeom prst="roundRect">
            <a:avLst>
              <a:gd name="adj" fmla="val 5714"/>
            </a:avLst>
          </a:prstGeom>
          <a:solidFill>
            <a:schemeClr val="tx2"/>
          </a:solidFill>
          <a:ln/>
        </p:spPr>
      </p:sp>
      <p:pic>
        <p:nvPicPr>
          <p:cNvPr id="14" name="Image 1" descr="preencoded.png">    </p:cNvPr>
          <p:cNvPicPr>
            <a:picLocks noChangeAspect="1"/>
          </p:cNvPicPr>
          <p:nvPr/>
        </p:nvPicPr>
        <p:blipFill>
          <a:blip r:embed="rId2"/>
          <a:stretch>
            <a:fillRect/>
          </a:stretch>
        </p:blipFill>
        <p:spPr>
          <a:xfrm>
            <a:off x="10497312" y="1554480"/>
            <a:ext cx="457200" cy="457200"/>
          </a:xfrm>
          <a:prstGeom prst="rect">
            <a:avLst/>
          </a:prstGeom>
        </p:spPr>
      </p:pic>
      <p:sp>
        <p:nvSpPr>
          <p:cNvPr id="15" name="Text 10"/>
          <p:cNvSpPr txBox="1"/>
          <p:nvPr/>
        </p:nvSpPr>
        <p:spPr>
          <a:xfrm>
            <a:off x="9985248" y="2103120"/>
            <a:ext cx="1472184" cy="868680"/>
          </a:xfrm>
          <a:prstGeom prst="rect">
            <a:avLst/>
          </a:prstGeom>
          <a:noFill/>
          <a:ln/>
        </p:spPr>
        <p:txBody>
          <a:bodyPr wrap="square" lIns="0" tIns="0" rIns="0" bIns="0" rtlCol="0" anchor="t"/>
          <a:lstStyle/>
          <a:p>
            <a:pPr algn="ctr" indent="0" marL="0">
              <a:buNone/>
            </a:pPr>
            <a:r>
              <a:rPr lang="en-US" sz="1200" dirty="0">
                <a:solidFill>
                  <a:schemeClr val="bg1"/>
                </a:solidFill>
              </a:rPr>
              <a:t>CloudWatch logs inspected</a:t>
            </a:r>
            <a:endParaRPr lang="en-US" sz="1200" dirty="0"/>
          </a:p>
        </p:txBody>
      </p:sp>
      <p:graphicFrame>
        <p:nvGraphicFramePr>
          <p:cNvPr id="16" name="Chart 0" descr=""/>
          <p:cNvGraphicFramePr/>
          <p:nvPr/>
        </p:nvGraphicFramePr>
        <p:xfrm>
          <a:off x="6217920" y="3200400"/>
          <a:ext cx="5394960" cy="292608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Live demo</a:t>
            </a:r>
            <a:endParaRPr lang="en-US" sz="3400" dirty="0"/>
          </a:p>
        </p:txBody>
      </p:sp>
      <p:sp>
        <p:nvSpPr>
          <p:cNvPr id="3" name="Shape 1"/>
          <p:cNvSpPr/>
          <p:nvPr/>
        </p:nvSpPr>
        <p:spPr>
          <a:xfrm>
            <a:off x="585216" y="1508760"/>
            <a:ext cx="2057400" cy="3383280"/>
          </a:xfrm>
          <a:prstGeom prst="roundRect">
            <a:avLst>
              <a:gd name="adj" fmla="val 4444"/>
            </a:avLst>
          </a:prstGeom>
          <a:solidFill>
            <a:schemeClr val="bg2"/>
          </a:solidFill>
          <a:ln/>
        </p:spPr>
      </p:sp>
      <p:sp>
        <p:nvSpPr>
          <p:cNvPr id="4" name="Shape 2"/>
          <p:cNvSpPr/>
          <p:nvPr/>
        </p:nvSpPr>
        <p:spPr>
          <a:xfrm>
            <a:off x="813816" y="1737360"/>
            <a:ext cx="548640" cy="548640"/>
          </a:xfrm>
          <a:prstGeom prst="ellipse">
            <a:avLst/>
          </a:prstGeom>
          <a:solidFill>
            <a:schemeClr val="accent3"/>
          </a:solidFill>
          <a:ln/>
        </p:spPr>
      </p:sp>
      <p:sp>
        <p:nvSpPr>
          <p:cNvPr id="5" name="Text 3"/>
          <p:cNvSpPr txBox="1"/>
          <p:nvPr/>
        </p:nvSpPr>
        <p:spPr>
          <a:xfrm>
            <a:off x="813816" y="1737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6" name="Text 4"/>
          <p:cNvSpPr txBox="1"/>
          <p:nvPr/>
        </p:nvSpPr>
        <p:spPr>
          <a:xfrm>
            <a:off x="813816" y="2514600"/>
            <a:ext cx="1737360" cy="411480"/>
          </a:xfrm>
          <a:prstGeom prst="rect">
            <a:avLst/>
          </a:prstGeom>
          <a:noFill/>
          <a:ln/>
        </p:spPr>
        <p:txBody>
          <a:bodyPr wrap="square" lIns="0" tIns="0" rIns="0" bIns="0" rtlCol="0" anchor="t"/>
          <a:lstStyle/>
          <a:p>
            <a:pPr indent="0" marL="0">
              <a:buNone/>
            </a:pPr>
            <a:r>
              <a:rPr lang="en-US" sz="2000" b="1" dirty="0">
                <a:solidFill>
                  <a:schemeClr val="tx2"/>
                </a:solidFill>
                <a:latin typeface="Courier New" pitchFamily="34" charset="0"/>
                <a:ea typeface="Courier New" pitchFamily="34" charset="-122"/>
                <a:cs typeface="Courier New" pitchFamily="34" charset="-120"/>
              </a:rPr>
              <a:t>/health</a:t>
            </a:r>
            <a:endParaRPr lang="en-US" sz="2000" dirty="0"/>
          </a:p>
        </p:txBody>
      </p:sp>
      <p:sp>
        <p:nvSpPr>
          <p:cNvPr id="7" name="Text 5"/>
          <p:cNvSpPr txBox="1"/>
          <p:nvPr/>
        </p:nvSpPr>
        <p:spPr>
          <a:xfrm>
            <a:off x="813816" y="3017520"/>
            <a:ext cx="1645920" cy="822960"/>
          </a:xfrm>
          <a:prstGeom prst="rect">
            <a:avLst/>
          </a:prstGeom>
          <a:noFill/>
          <a:ln/>
        </p:spPr>
        <p:txBody>
          <a:bodyPr wrap="square" lIns="0" tIns="0" rIns="0" bIns="0" rtlCol="0" anchor="t"/>
          <a:lstStyle/>
          <a:p>
            <a:pPr indent="0" marL="0">
              <a:buNone/>
            </a:pPr>
            <a:r>
              <a:rPr lang="en-US" sz="1500" dirty="0">
                <a:solidFill>
                  <a:schemeClr val="tx1"/>
                </a:solidFill>
              </a:rPr>
              <a:t>Check the service is up</a:t>
            </a:r>
            <a:endParaRPr lang="en-US" sz="1500" dirty="0"/>
          </a:p>
        </p:txBody>
      </p:sp>
      <p:sp>
        <p:nvSpPr>
          <p:cNvPr id="8" name="Text 6"/>
          <p:cNvSpPr txBox="1"/>
          <p:nvPr/>
        </p:nvSpPr>
        <p:spPr>
          <a:xfrm>
            <a:off x="813816" y="3931920"/>
            <a:ext cx="1645920" cy="868680"/>
          </a:xfrm>
          <a:prstGeom prst="rect">
            <a:avLst/>
          </a:prstGeom>
          <a:noFill/>
          <a:ln/>
        </p:spPr>
        <p:txBody>
          <a:bodyPr wrap="square" lIns="0" tIns="0" rIns="0" bIns="0" rtlCol="0" anchor="t"/>
          <a:lstStyle/>
          <a:p>
            <a:pPr indent="0" marL="0">
              <a:buNone/>
            </a:pPr>
            <a:r>
              <a:rPr lang="en-US" sz="1300" b="1" dirty="0">
                <a:solidFill>
                  <a:schemeClr val="accent6"/>
                </a:solidFill>
              </a:rPr>
              <a:t>Show: </a:t>
            </a:r>
            <a:pPr indent="0" marL="0">
              <a:buNone/>
            </a:pPr>
            <a:r>
              <a:rPr lang="en-US" sz="1300" dirty="0">
                <a:solidFill>
                  <a:schemeClr val="tx1"/>
                </a:solidFill>
              </a:rPr>
              <a:t>Healthy response</a:t>
            </a:r>
            <a:endParaRPr lang="en-US" sz="1300" dirty="0"/>
          </a:p>
        </p:txBody>
      </p:sp>
      <p:sp>
        <p:nvSpPr>
          <p:cNvPr id="9" name="Shape 7"/>
          <p:cNvSpPr/>
          <p:nvPr/>
        </p:nvSpPr>
        <p:spPr>
          <a:xfrm>
            <a:off x="2825496" y="1508760"/>
            <a:ext cx="2057400" cy="3383280"/>
          </a:xfrm>
          <a:prstGeom prst="roundRect">
            <a:avLst>
              <a:gd name="adj" fmla="val 4444"/>
            </a:avLst>
          </a:prstGeom>
          <a:solidFill>
            <a:schemeClr val="bg2"/>
          </a:solidFill>
          <a:ln/>
        </p:spPr>
      </p:sp>
      <p:sp>
        <p:nvSpPr>
          <p:cNvPr id="10" name="Shape 8"/>
          <p:cNvSpPr/>
          <p:nvPr/>
        </p:nvSpPr>
        <p:spPr>
          <a:xfrm>
            <a:off x="3054096" y="1737360"/>
            <a:ext cx="548640" cy="548640"/>
          </a:xfrm>
          <a:prstGeom prst="ellipse">
            <a:avLst/>
          </a:prstGeom>
          <a:solidFill>
            <a:schemeClr val="accent3"/>
          </a:solidFill>
          <a:ln/>
        </p:spPr>
      </p:sp>
      <p:sp>
        <p:nvSpPr>
          <p:cNvPr id="11" name="Text 9"/>
          <p:cNvSpPr txBox="1"/>
          <p:nvPr/>
        </p:nvSpPr>
        <p:spPr>
          <a:xfrm>
            <a:off x="3054096" y="1737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2" name="Text 10"/>
          <p:cNvSpPr txBox="1"/>
          <p:nvPr/>
        </p:nvSpPr>
        <p:spPr>
          <a:xfrm>
            <a:off x="3054096" y="2514600"/>
            <a:ext cx="1737360" cy="411480"/>
          </a:xfrm>
          <a:prstGeom prst="rect">
            <a:avLst/>
          </a:prstGeom>
          <a:noFill/>
          <a:ln/>
        </p:spPr>
        <p:txBody>
          <a:bodyPr wrap="square" lIns="0" tIns="0" rIns="0" bIns="0" rtlCol="0" anchor="t"/>
          <a:lstStyle/>
          <a:p>
            <a:pPr indent="0" marL="0">
              <a:buNone/>
            </a:pPr>
            <a:r>
              <a:rPr lang="en-US" sz="2000" b="1" dirty="0">
                <a:solidFill>
                  <a:schemeClr val="tx2"/>
                </a:solidFill>
                <a:latin typeface="Courier New" pitchFamily="34" charset="0"/>
                <a:ea typeface="Courier New" pitchFamily="34" charset="-122"/>
                <a:cs typeface="Courier New" pitchFamily="34" charset="-120"/>
              </a:rPr>
              <a:t>/login</a:t>
            </a:r>
            <a:endParaRPr lang="en-US" sz="2000" dirty="0"/>
          </a:p>
        </p:txBody>
      </p:sp>
      <p:sp>
        <p:nvSpPr>
          <p:cNvPr id="13" name="Text 11"/>
          <p:cNvSpPr txBox="1"/>
          <p:nvPr/>
        </p:nvSpPr>
        <p:spPr>
          <a:xfrm>
            <a:off x="3054096" y="3017520"/>
            <a:ext cx="1645920" cy="822960"/>
          </a:xfrm>
          <a:prstGeom prst="rect">
            <a:avLst/>
          </a:prstGeom>
          <a:noFill/>
          <a:ln/>
        </p:spPr>
        <p:txBody>
          <a:bodyPr wrap="square" lIns="0" tIns="0" rIns="0" bIns="0" rtlCol="0" anchor="t"/>
          <a:lstStyle/>
          <a:p>
            <a:pPr indent="0" marL="0">
              <a:buNone/>
            </a:pPr>
            <a:r>
              <a:rPr lang="en-US" sz="1500" dirty="0">
                <a:solidFill>
                  <a:schemeClr val="tx1"/>
                </a:solidFill>
              </a:rPr>
              <a:t>Authenticate with a role</a:t>
            </a:r>
            <a:endParaRPr lang="en-US" sz="1500" dirty="0"/>
          </a:p>
        </p:txBody>
      </p:sp>
      <p:sp>
        <p:nvSpPr>
          <p:cNvPr id="14" name="Text 12"/>
          <p:cNvSpPr txBox="1"/>
          <p:nvPr/>
        </p:nvSpPr>
        <p:spPr>
          <a:xfrm>
            <a:off x="3054096" y="3931920"/>
            <a:ext cx="1645920" cy="868680"/>
          </a:xfrm>
          <a:prstGeom prst="rect">
            <a:avLst/>
          </a:prstGeom>
          <a:noFill/>
          <a:ln/>
        </p:spPr>
        <p:txBody>
          <a:bodyPr wrap="square" lIns="0" tIns="0" rIns="0" bIns="0" rtlCol="0" anchor="t"/>
          <a:lstStyle/>
          <a:p>
            <a:pPr indent="0" marL="0">
              <a:buNone/>
            </a:pPr>
            <a:r>
              <a:rPr lang="en-US" sz="1300" b="1" dirty="0">
                <a:solidFill>
                  <a:schemeClr val="accent6"/>
                </a:solidFill>
              </a:rPr>
              <a:t>Show: </a:t>
            </a:r>
            <a:pPr indent="0" marL="0">
              <a:buNone/>
            </a:pPr>
            <a:r>
              <a:rPr lang="en-US" sz="1300" dirty="0">
                <a:solidFill>
                  <a:schemeClr val="tx1"/>
                </a:solidFill>
              </a:rPr>
              <a:t>Login succeeds (token stays hidden)</a:t>
            </a:r>
            <a:endParaRPr lang="en-US" sz="1300" dirty="0"/>
          </a:p>
        </p:txBody>
      </p:sp>
      <p:sp>
        <p:nvSpPr>
          <p:cNvPr id="15" name="Shape 13"/>
          <p:cNvSpPr/>
          <p:nvPr/>
        </p:nvSpPr>
        <p:spPr>
          <a:xfrm>
            <a:off x="5065776" y="1508760"/>
            <a:ext cx="2057400" cy="3383280"/>
          </a:xfrm>
          <a:prstGeom prst="roundRect">
            <a:avLst>
              <a:gd name="adj" fmla="val 4444"/>
            </a:avLst>
          </a:prstGeom>
          <a:solidFill>
            <a:schemeClr val="bg2"/>
          </a:solidFill>
          <a:ln/>
        </p:spPr>
      </p:sp>
      <p:sp>
        <p:nvSpPr>
          <p:cNvPr id="16" name="Shape 14"/>
          <p:cNvSpPr/>
          <p:nvPr/>
        </p:nvSpPr>
        <p:spPr>
          <a:xfrm>
            <a:off x="5294376" y="1737360"/>
            <a:ext cx="548640" cy="548640"/>
          </a:xfrm>
          <a:prstGeom prst="ellipse">
            <a:avLst/>
          </a:prstGeom>
          <a:solidFill>
            <a:schemeClr val="accent3"/>
          </a:solidFill>
          <a:ln/>
        </p:spPr>
      </p:sp>
      <p:sp>
        <p:nvSpPr>
          <p:cNvPr id="17" name="Text 15"/>
          <p:cNvSpPr txBox="1"/>
          <p:nvPr/>
        </p:nvSpPr>
        <p:spPr>
          <a:xfrm>
            <a:off x="5294376" y="1737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8" name="Text 16"/>
          <p:cNvSpPr txBox="1"/>
          <p:nvPr/>
        </p:nvSpPr>
        <p:spPr>
          <a:xfrm>
            <a:off x="5294376" y="2514600"/>
            <a:ext cx="1737360" cy="411480"/>
          </a:xfrm>
          <a:prstGeom prst="rect">
            <a:avLst/>
          </a:prstGeom>
          <a:noFill/>
          <a:ln/>
        </p:spPr>
        <p:txBody>
          <a:bodyPr wrap="square" lIns="0" tIns="0" rIns="0" bIns="0" rtlCol="0" anchor="t"/>
          <a:lstStyle/>
          <a:p>
            <a:pPr indent="0" marL="0">
              <a:buNone/>
            </a:pPr>
            <a:r>
              <a:rPr lang="en-US" sz="2000" b="1" dirty="0">
                <a:solidFill>
                  <a:schemeClr val="tx2"/>
                </a:solidFill>
                <a:latin typeface="Courier New" pitchFamily="34" charset="0"/>
                <a:ea typeface="Courier New" pitchFamily="34" charset="-122"/>
                <a:cs typeface="Courier New" pitchFamily="34" charset="-120"/>
              </a:rPr>
              <a:t>/events</a:t>
            </a:r>
            <a:endParaRPr lang="en-US" sz="2000" dirty="0"/>
          </a:p>
        </p:txBody>
      </p:sp>
      <p:sp>
        <p:nvSpPr>
          <p:cNvPr id="19" name="Text 17"/>
          <p:cNvSpPr txBox="1"/>
          <p:nvPr/>
        </p:nvSpPr>
        <p:spPr>
          <a:xfrm>
            <a:off x="5294376" y="3017520"/>
            <a:ext cx="1645920" cy="822960"/>
          </a:xfrm>
          <a:prstGeom prst="rect">
            <a:avLst/>
          </a:prstGeom>
          <a:noFill/>
          <a:ln/>
        </p:spPr>
        <p:txBody>
          <a:bodyPr wrap="square" lIns="0" tIns="0" rIns="0" bIns="0" rtlCol="0" anchor="t"/>
          <a:lstStyle/>
          <a:p>
            <a:pPr indent="0" marL="0">
              <a:buNone/>
            </a:pPr>
            <a:r>
              <a:rPr lang="en-US" sz="1500" dirty="0">
                <a:solidFill>
                  <a:schemeClr val="tx1"/>
                </a:solidFill>
              </a:rPr>
              <a:t>Send a simulated event</a:t>
            </a:r>
            <a:endParaRPr lang="en-US" sz="1500" dirty="0"/>
          </a:p>
        </p:txBody>
      </p:sp>
      <p:sp>
        <p:nvSpPr>
          <p:cNvPr id="20" name="Text 18"/>
          <p:cNvSpPr txBox="1"/>
          <p:nvPr/>
        </p:nvSpPr>
        <p:spPr>
          <a:xfrm>
            <a:off x="5294376" y="3931920"/>
            <a:ext cx="1645920" cy="868680"/>
          </a:xfrm>
          <a:prstGeom prst="rect">
            <a:avLst/>
          </a:prstGeom>
          <a:noFill/>
          <a:ln/>
        </p:spPr>
        <p:txBody>
          <a:bodyPr wrap="square" lIns="0" tIns="0" rIns="0" bIns="0" rtlCol="0" anchor="t"/>
          <a:lstStyle/>
          <a:p>
            <a:pPr indent="0" marL="0">
              <a:buNone/>
            </a:pPr>
            <a:r>
              <a:rPr lang="en-US" sz="1300" b="1" dirty="0">
                <a:solidFill>
                  <a:schemeClr val="accent6"/>
                </a:solidFill>
              </a:rPr>
              <a:t>Show: </a:t>
            </a:r>
            <a:pPr indent="0" marL="0">
              <a:buNone/>
            </a:pPr>
            <a:r>
              <a:rPr lang="en-US" sz="1300" dirty="0">
                <a:solidFill>
                  <a:schemeClr val="tx1"/>
                </a:solidFill>
              </a:rPr>
              <a:t>Event is recorded</a:t>
            </a:r>
            <a:endParaRPr lang="en-US" sz="1300" dirty="0"/>
          </a:p>
        </p:txBody>
      </p:sp>
      <p:sp>
        <p:nvSpPr>
          <p:cNvPr id="21" name="Shape 19"/>
          <p:cNvSpPr/>
          <p:nvPr/>
        </p:nvSpPr>
        <p:spPr>
          <a:xfrm>
            <a:off x="7306056" y="1508760"/>
            <a:ext cx="2057400" cy="3383280"/>
          </a:xfrm>
          <a:prstGeom prst="roundRect">
            <a:avLst>
              <a:gd name="adj" fmla="val 4444"/>
            </a:avLst>
          </a:prstGeom>
          <a:solidFill>
            <a:schemeClr val="bg2"/>
          </a:solidFill>
          <a:ln/>
        </p:spPr>
      </p:sp>
      <p:sp>
        <p:nvSpPr>
          <p:cNvPr id="22" name="Shape 20"/>
          <p:cNvSpPr/>
          <p:nvPr/>
        </p:nvSpPr>
        <p:spPr>
          <a:xfrm>
            <a:off x="7534656" y="1737360"/>
            <a:ext cx="548640" cy="548640"/>
          </a:xfrm>
          <a:prstGeom prst="ellipse">
            <a:avLst/>
          </a:prstGeom>
          <a:solidFill>
            <a:schemeClr val="accent3"/>
          </a:solidFill>
          <a:ln/>
        </p:spPr>
      </p:sp>
      <p:sp>
        <p:nvSpPr>
          <p:cNvPr id="23" name="Text 21"/>
          <p:cNvSpPr txBox="1"/>
          <p:nvPr/>
        </p:nvSpPr>
        <p:spPr>
          <a:xfrm>
            <a:off x="7534656" y="1737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24" name="Text 22"/>
          <p:cNvSpPr txBox="1"/>
          <p:nvPr/>
        </p:nvSpPr>
        <p:spPr>
          <a:xfrm>
            <a:off x="7534656" y="2514600"/>
            <a:ext cx="1737360" cy="411480"/>
          </a:xfrm>
          <a:prstGeom prst="rect">
            <a:avLst/>
          </a:prstGeom>
          <a:noFill/>
          <a:ln/>
        </p:spPr>
        <p:txBody>
          <a:bodyPr wrap="square" lIns="0" tIns="0" rIns="0" bIns="0" rtlCol="0" anchor="t"/>
          <a:lstStyle/>
          <a:p>
            <a:pPr indent="0" marL="0">
              <a:buNone/>
            </a:pPr>
            <a:r>
              <a:rPr lang="en-US" sz="2000" b="1" dirty="0">
                <a:solidFill>
                  <a:schemeClr val="tx2"/>
                </a:solidFill>
                <a:latin typeface="Courier New" pitchFamily="34" charset="0"/>
                <a:ea typeface="Courier New" pitchFamily="34" charset="-122"/>
                <a:cs typeface="Courier New" pitchFamily="34" charset="-120"/>
              </a:rPr>
              <a:t>/stats</a:t>
            </a:r>
            <a:endParaRPr lang="en-US" sz="2000" dirty="0"/>
          </a:p>
        </p:txBody>
      </p:sp>
      <p:sp>
        <p:nvSpPr>
          <p:cNvPr id="25" name="Text 23"/>
          <p:cNvSpPr txBox="1"/>
          <p:nvPr/>
        </p:nvSpPr>
        <p:spPr>
          <a:xfrm>
            <a:off x="7534656" y="3017520"/>
            <a:ext cx="1645920" cy="822960"/>
          </a:xfrm>
          <a:prstGeom prst="rect">
            <a:avLst/>
          </a:prstGeom>
          <a:noFill/>
          <a:ln/>
        </p:spPr>
        <p:txBody>
          <a:bodyPr wrap="square" lIns="0" tIns="0" rIns="0" bIns="0" rtlCol="0" anchor="t"/>
          <a:lstStyle/>
          <a:p>
            <a:pPr indent="0" marL="0">
              <a:buNone/>
            </a:pPr>
            <a:r>
              <a:rPr lang="en-US" sz="1500" dirty="0">
                <a:solidFill>
                  <a:schemeClr val="tx1"/>
                </a:solidFill>
              </a:rPr>
              <a:t>Read operational statistics</a:t>
            </a:r>
            <a:endParaRPr lang="en-US" sz="1500" dirty="0"/>
          </a:p>
        </p:txBody>
      </p:sp>
      <p:sp>
        <p:nvSpPr>
          <p:cNvPr id="26" name="Text 24"/>
          <p:cNvSpPr txBox="1"/>
          <p:nvPr/>
        </p:nvSpPr>
        <p:spPr>
          <a:xfrm>
            <a:off x="7534656" y="3931920"/>
            <a:ext cx="1645920" cy="868680"/>
          </a:xfrm>
          <a:prstGeom prst="rect">
            <a:avLst/>
          </a:prstGeom>
          <a:noFill/>
          <a:ln/>
        </p:spPr>
        <p:txBody>
          <a:bodyPr wrap="square" lIns="0" tIns="0" rIns="0" bIns="0" rtlCol="0" anchor="t"/>
          <a:lstStyle/>
          <a:p>
            <a:pPr indent="0" marL="0">
              <a:buNone/>
            </a:pPr>
            <a:r>
              <a:rPr lang="en-US" sz="1300" b="1" dirty="0">
                <a:solidFill>
                  <a:schemeClr val="accent6"/>
                </a:solidFill>
              </a:rPr>
              <a:t>Show: </a:t>
            </a:r>
            <a:pPr indent="0" marL="0">
              <a:buNone/>
            </a:pPr>
            <a:r>
              <a:rPr lang="en-US" sz="1300" dirty="0">
                <a:solidFill>
                  <a:schemeClr val="tx1"/>
                </a:solidFill>
              </a:rPr>
              <a:t>Totals reflect stored events</a:t>
            </a:r>
            <a:endParaRPr lang="en-US" sz="1300" dirty="0"/>
          </a:p>
        </p:txBody>
      </p:sp>
      <p:sp>
        <p:nvSpPr>
          <p:cNvPr id="27" name="Shape 25"/>
          <p:cNvSpPr/>
          <p:nvPr/>
        </p:nvSpPr>
        <p:spPr>
          <a:xfrm>
            <a:off x="9546336" y="1508760"/>
            <a:ext cx="2057400" cy="3383280"/>
          </a:xfrm>
          <a:prstGeom prst="roundRect">
            <a:avLst>
              <a:gd name="adj" fmla="val 4444"/>
            </a:avLst>
          </a:prstGeom>
          <a:solidFill>
            <a:schemeClr val="bg2"/>
          </a:solidFill>
          <a:ln/>
        </p:spPr>
      </p:sp>
      <p:sp>
        <p:nvSpPr>
          <p:cNvPr id="28" name="Shape 26"/>
          <p:cNvSpPr/>
          <p:nvPr/>
        </p:nvSpPr>
        <p:spPr>
          <a:xfrm>
            <a:off x="9774936" y="1737360"/>
            <a:ext cx="548640" cy="548640"/>
          </a:xfrm>
          <a:prstGeom prst="ellipse">
            <a:avLst/>
          </a:prstGeom>
          <a:solidFill>
            <a:schemeClr val="accent3"/>
          </a:solidFill>
          <a:ln/>
        </p:spPr>
      </p:sp>
      <p:sp>
        <p:nvSpPr>
          <p:cNvPr id="29" name="Text 27"/>
          <p:cNvSpPr txBox="1"/>
          <p:nvPr/>
        </p:nvSpPr>
        <p:spPr>
          <a:xfrm>
            <a:off x="9774936" y="1737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5</a:t>
            </a:r>
            <a:endParaRPr lang="en-US" sz="2000" dirty="0"/>
          </a:p>
        </p:txBody>
      </p:sp>
      <p:sp>
        <p:nvSpPr>
          <p:cNvPr id="30" name="Text 28"/>
          <p:cNvSpPr txBox="1"/>
          <p:nvPr/>
        </p:nvSpPr>
        <p:spPr>
          <a:xfrm>
            <a:off x="9774936" y="2514600"/>
            <a:ext cx="1737360" cy="411480"/>
          </a:xfrm>
          <a:prstGeom prst="rect">
            <a:avLst/>
          </a:prstGeom>
          <a:noFill/>
          <a:ln/>
        </p:spPr>
        <p:txBody>
          <a:bodyPr wrap="square" lIns="0" tIns="0" rIns="0" bIns="0" rtlCol="0" anchor="t"/>
          <a:lstStyle/>
          <a:p>
            <a:pPr indent="0" marL="0">
              <a:buNone/>
            </a:pPr>
            <a:r>
              <a:rPr lang="en-US" sz="2000" b="1" dirty="0">
                <a:solidFill>
                  <a:schemeClr val="tx2"/>
                </a:solidFill>
                <a:latin typeface="Courier New" pitchFamily="34" charset="0"/>
                <a:ea typeface="Courier New" pitchFamily="34" charset="-122"/>
                <a:cs typeface="Courier New" pitchFamily="34" charset="-120"/>
              </a:rPr>
              <a:t>/alerts</a:t>
            </a:r>
            <a:endParaRPr lang="en-US" sz="2000" dirty="0"/>
          </a:p>
        </p:txBody>
      </p:sp>
      <p:sp>
        <p:nvSpPr>
          <p:cNvPr id="31" name="Text 29"/>
          <p:cNvSpPr txBox="1"/>
          <p:nvPr/>
        </p:nvSpPr>
        <p:spPr>
          <a:xfrm>
            <a:off x="9774936" y="3017520"/>
            <a:ext cx="1645920" cy="822960"/>
          </a:xfrm>
          <a:prstGeom prst="rect">
            <a:avLst/>
          </a:prstGeom>
          <a:noFill/>
          <a:ln/>
        </p:spPr>
        <p:txBody>
          <a:bodyPr wrap="square" lIns="0" tIns="0" rIns="0" bIns="0" rtlCol="0" anchor="t"/>
          <a:lstStyle/>
          <a:p>
            <a:pPr indent="0" marL="0">
              <a:buNone/>
            </a:pPr>
            <a:r>
              <a:rPr lang="en-US" sz="1500" dirty="0">
                <a:solidFill>
                  <a:schemeClr val="tx1"/>
                </a:solidFill>
              </a:rPr>
              <a:t>Retrieve alert information</a:t>
            </a:r>
            <a:endParaRPr lang="en-US" sz="1500" dirty="0"/>
          </a:p>
        </p:txBody>
      </p:sp>
      <p:sp>
        <p:nvSpPr>
          <p:cNvPr id="32" name="Text 30"/>
          <p:cNvSpPr txBox="1"/>
          <p:nvPr/>
        </p:nvSpPr>
        <p:spPr>
          <a:xfrm>
            <a:off x="9774936" y="3931920"/>
            <a:ext cx="1645920" cy="868680"/>
          </a:xfrm>
          <a:prstGeom prst="rect">
            <a:avLst/>
          </a:prstGeom>
          <a:noFill/>
          <a:ln/>
        </p:spPr>
        <p:txBody>
          <a:bodyPr wrap="square" lIns="0" tIns="0" rIns="0" bIns="0" rtlCol="0" anchor="t"/>
          <a:lstStyle/>
          <a:p>
            <a:pPr indent="0" marL="0">
              <a:buNone/>
            </a:pPr>
            <a:r>
              <a:rPr lang="en-US" sz="1300" b="1" dirty="0">
                <a:solidFill>
                  <a:schemeClr val="accent6"/>
                </a:solidFill>
              </a:rPr>
              <a:t>Show: </a:t>
            </a:r>
            <a:pPr indent="0" marL="0">
              <a:buNone/>
            </a:pPr>
            <a:r>
              <a:rPr lang="en-US" sz="1300" dirty="0">
                <a:solidFill>
                  <a:schemeClr val="tx1"/>
                </a:solidFill>
              </a:rPr>
              <a:t>Alert list returned</a:t>
            </a:r>
            <a:endParaRPr lang="en-US" sz="1300" dirty="0"/>
          </a:p>
        </p:txBody>
      </p:sp>
      <p:sp>
        <p:nvSpPr>
          <p:cNvPr id="33" name="Shape 31"/>
          <p:cNvSpPr/>
          <p:nvPr/>
        </p:nvSpPr>
        <p:spPr>
          <a:xfrm>
            <a:off x="585216" y="5212080"/>
            <a:ext cx="11018520" cy="822960"/>
          </a:xfrm>
          <a:prstGeom prst="roundRect">
            <a:avLst>
              <a:gd name="adj" fmla="val 11111"/>
            </a:avLst>
          </a:prstGeom>
          <a:solidFill>
            <a:schemeClr val="tx2"/>
          </a:solidFill>
          <a:ln/>
        </p:spPr>
      </p:sp>
      <p:sp>
        <p:nvSpPr>
          <p:cNvPr id="34" name="Text 32"/>
          <p:cNvSpPr txBox="1"/>
          <p:nvPr/>
        </p:nvSpPr>
        <p:spPr>
          <a:xfrm>
            <a:off x="822960" y="5212080"/>
            <a:ext cx="10515600" cy="822960"/>
          </a:xfrm>
          <a:prstGeom prst="rect">
            <a:avLst/>
          </a:prstGeom>
          <a:noFill/>
          <a:ln/>
        </p:spPr>
        <p:txBody>
          <a:bodyPr wrap="square" lIns="0" tIns="0" rIns="0" bIns="0" rtlCol="0" anchor="ctr"/>
          <a:lstStyle/>
          <a:p>
            <a:pPr indent="0" marL="0">
              <a:buNone/>
            </a:pPr>
            <a:r>
              <a:rPr lang="en-US" sz="1500" b="1" dirty="0">
                <a:solidFill>
                  <a:schemeClr val="accent2"/>
                </a:solidFill>
              </a:rPr>
              <a:t>Safety: </a:t>
            </a:r>
            <a:pPr indent="0" marL="0">
              <a:buNone/>
            </a:pPr>
            <a:r>
              <a:rPr lang="en-US" sz="1500" dirty="0">
                <a:solidFill>
                  <a:schemeClr val="bg1"/>
                </a:solidFill>
              </a:rPr>
              <a:t>credentials and tokens stay off-screen.   </a:t>
            </a:r>
            <a:pPr indent="0" marL="0">
              <a:buNone/>
            </a:pPr>
            <a:r>
              <a:rPr lang="en-US" sz="1500" b="1" dirty="0">
                <a:solidFill>
                  <a:schemeClr val="accent2"/>
                </a:solidFill>
              </a:rPr>
              <a:t>Backup: </a:t>
            </a:r>
            <a:pPr indent="0" marL="0">
              <a:buNone/>
            </a:pPr>
            <a:r>
              <a:rPr lang="en-US" sz="1500" dirty="0">
                <a:solidFill>
                  <a:schemeClr val="bg1"/>
                </a:solidFill>
              </a:rPr>
              <a:t>CloudWatch logs and slide 7 results.   </a:t>
            </a:r>
            <a:pPr indent="0" marL="0">
              <a:buNone/>
            </a:pPr>
            <a:r>
              <a:rPr lang="en-US" sz="1500" b="1" dirty="0">
                <a:solidFill>
                  <a:schemeClr val="accent3"/>
                </a:solidFill>
              </a:rPr>
              <a:t>~3 minutes</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Challenges, lessons learned and security</a:t>
            </a:r>
            <a:endParaRPr lang="en-US" sz="3400" dirty="0"/>
          </a:p>
        </p:txBody>
      </p:sp>
      <p:sp>
        <p:nvSpPr>
          <p:cNvPr id="3" name="Shape 1"/>
          <p:cNvSpPr/>
          <p:nvPr/>
        </p:nvSpPr>
        <p:spPr>
          <a:xfrm>
            <a:off x="566928" y="1463040"/>
            <a:ext cx="4846320" cy="4617720"/>
          </a:xfrm>
          <a:prstGeom prst="roundRect">
            <a:avLst>
              <a:gd name="adj" fmla="val 1980"/>
            </a:avLst>
          </a:prstGeom>
          <a:solidFill>
            <a:schemeClr val="bg2"/>
          </a:solidFill>
          <a:ln/>
        </p:spPr>
      </p:sp>
      <p:sp>
        <p:nvSpPr>
          <p:cNvPr id="4" name="Text 2"/>
          <p:cNvSpPr txBox="1"/>
          <p:nvPr/>
        </p:nvSpPr>
        <p:spPr>
          <a:xfrm>
            <a:off x="822960" y="1691640"/>
            <a:ext cx="438912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CHALLENGES AND LESSONS</a:t>
            </a:r>
            <a:endParaRPr lang="en-US" sz="1200" dirty="0"/>
          </a:p>
        </p:txBody>
      </p:sp>
      <p:sp>
        <p:nvSpPr>
          <p:cNvPr id="5" name="Shape 3"/>
          <p:cNvSpPr/>
          <p:nvPr/>
        </p:nvSpPr>
        <p:spPr>
          <a:xfrm>
            <a:off x="822960" y="2103120"/>
            <a:ext cx="502920" cy="502920"/>
          </a:xfrm>
          <a:prstGeom prst="ellipse">
            <a:avLst/>
          </a:prstGeom>
          <a:solidFill>
            <a:srgbClr val="173B6B"/>
          </a:solidFill>
          <a:ln/>
        </p:spPr>
      </p:sp>
      <p:pic>
        <p:nvPicPr>
          <p:cNvPr id="6" name="Image 0" descr="preencoded.png">    </p:cNvPr>
          <p:cNvPicPr>
            <a:picLocks noChangeAspect="1"/>
          </p:cNvPicPr>
          <p:nvPr/>
        </p:nvPicPr>
        <p:blipFill>
          <a:blip r:embed="rId1"/>
          <a:stretch>
            <a:fillRect/>
          </a:stretch>
        </p:blipFill>
        <p:spPr>
          <a:xfrm>
            <a:off x="958748" y="2238908"/>
            <a:ext cx="231343" cy="231343"/>
          </a:xfrm>
          <a:prstGeom prst="rect">
            <a:avLst/>
          </a:prstGeom>
        </p:spPr>
      </p:pic>
      <p:sp>
        <p:nvSpPr>
          <p:cNvPr id="7" name="Text 4"/>
          <p:cNvSpPr txBox="1"/>
          <p:nvPr/>
        </p:nvSpPr>
        <p:spPr>
          <a:xfrm>
            <a:off x="1508760" y="2057400"/>
            <a:ext cx="3749040" cy="594360"/>
          </a:xfrm>
          <a:prstGeom prst="rect">
            <a:avLst/>
          </a:prstGeom>
          <a:noFill/>
          <a:ln/>
        </p:spPr>
        <p:txBody>
          <a:bodyPr wrap="square" lIns="0" tIns="0" rIns="0" bIns="0" rtlCol="0" anchor="ctr"/>
          <a:lstStyle/>
          <a:p>
            <a:pPr indent="0" marL="0">
              <a:buNone/>
            </a:pPr>
            <a:r>
              <a:rPr lang="en-US" sz="1500" b="1" dirty="0">
                <a:solidFill>
                  <a:schemeClr val="tx2"/>
                </a:solidFill>
              </a:rPr>
              <a:t>Serverless integration</a:t>
            </a:r>
            <a:endParaRPr lang="en-US" sz="1500" dirty="0"/>
          </a:p>
          <a:p>
            <a:pPr indent="0" marL="0">
              <a:buNone/>
            </a:pPr>
            <a:r>
              <a:rPr lang="en-US" sz="1300" dirty="0">
                <a:solidFill>
                  <a:schemeClr val="tx1"/>
                </a:solidFill>
              </a:rPr>
              <a:t>Connecting API Gateway to Lambda</a:t>
            </a:r>
            <a:endParaRPr lang="en-US" sz="1500" dirty="0"/>
          </a:p>
        </p:txBody>
      </p:sp>
      <p:sp>
        <p:nvSpPr>
          <p:cNvPr id="8" name="Shape 5"/>
          <p:cNvSpPr/>
          <p:nvPr/>
        </p:nvSpPr>
        <p:spPr>
          <a:xfrm>
            <a:off x="822960" y="2889504"/>
            <a:ext cx="502920" cy="502920"/>
          </a:xfrm>
          <a:prstGeom prst="ellipse">
            <a:avLst/>
          </a:prstGeom>
          <a:solidFill>
            <a:srgbClr val="173B6B"/>
          </a:solidFill>
          <a:ln/>
        </p:spPr>
      </p:sp>
      <p:pic>
        <p:nvPicPr>
          <p:cNvPr id="9" name="Image 1" descr="preencoded.png">    </p:cNvPr>
          <p:cNvPicPr>
            <a:picLocks noChangeAspect="1"/>
          </p:cNvPicPr>
          <p:nvPr/>
        </p:nvPicPr>
        <p:blipFill>
          <a:blip r:embed="rId2"/>
          <a:stretch>
            <a:fillRect/>
          </a:stretch>
        </p:blipFill>
        <p:spPr>
          <a:xfrm>
            <a:off x="958748" y="3025292"/>
            <a:ext cx="231343" cy="231343"/>
          </a:xfrm>
          <a:prstGeom prst="rect">
            <a:avLst/>
          </a:prstGeom>
        </p:spPr>
      </p:pic>
      <p:sp>
        <p:nvSpPr>
          <p:cNvPr id="10" name="Text 6"/>
          <p:cNvSpPr txBox="1"/>
          <p:nvPr/>
        </p:nvSpPr>
        <p:spPr>
          <a:xfrm>
            <a:off x="1508760" y="2843784"/>
            <a:ext cx="3749040" cy="594360"/>
          </a:xfrm>
          <a:prstGeom prst="rect">
            <a:avLst/>
          </a:prstGeom>
          <a:noFill/>
          <a:ln/>
        </p:spPr>
        <p:txBody>
          <a:bodyPr wrap="square" lIns="0" tIns="0" rIns="0" bIns="0" rtlCol="0" anchor="ctr"/>
          <a:lstStyle/>
          <a:p>
            <a:pPr indent="0" marL="0">
              <a:buNone/>
            </a:pPr>
            <a:r>
              <a:rPr lang="en-US" sz="1500" b="1" dirty="0">
                <a:solidFill>
                  <a:schemeClr val="tx2"/>
                </a:solidFill>
              </a:rPr>
              <a:t>API validation</a:t>
            </a:r>
            <a:endParaRPr lang="en-US" sz="1500" dirty="0"/>
          </a:p>
          <a:p>
            <a:pPr indent="0" marL="0">
              <a:buNone/>
            </a:pPr>
            <a:r>
              <a:rPr lang="en-US" sz="1300" dirty="0">
                <a:solidFill>
                  <a:schemeClr val="tx1"/>
                </a:solidFill>
              </a:rPr>
              <a:t>Checking input before processing</a:t>
            </a:r>
            <a:endParaRPr lang="en-US" sz="1500" dirty="0"/>
          </a:p>
        </p:txBody>
      </p:sp>
      <p:sp>
        <p:nvSpPr>
          <p:cNvPr id="11" name="Shape 7"/>
          <p:cNvSpPr/>
          <p:nvPr/>
        </p:nvSpPr>
        <p:spPr>
          <a:xfrm>
            <a:off x="822960" y="3675888"/>
            <a:ext cx="502920" cy="502920"/>
          </a:xfrm>
          <a:prstGeom prst="ellipse">
            <a:avLst/>
          </a:prstGeom>
          <a:solidFill>
            <a:srgbClr val="173B6B"/>
          </a:solidFill>
          <a:ln/>
        </p:spPr>
      </p:sp>
      <p:pic>
        <p:nvPicPr>
          <p:cNvPr id="12" name="Image 2" descr="preencoded.png">    </p:cNvPr>
          <p:cNvPicPr>
            <a:picLocks noChangeAspect="1"/>
          </p:cNvPicPr>
          <p:nvPr/>
        </p:nvPicPr>
        <p:blipFill>
          <a:blip r:embed="rId3"/>
          <a:stretch>
            <a:fillRect/>
          </a:stretch>
        </p:blipFill>
        <p:spPr>
          <a:xfrm>
            <a:off x="958748" y="3811676"/>
            <a:ext cx="231343" cy="231343"/>
          </a:xfrm>
          <a:prstGeom prst="rect">
            <a:avLst/>
          </a:prstGeom>
        </p:spPr>
      </p:pic>
      <p:sp>
        <p:nvSpPr>
          <p:cNvPr id="13" name="Text 8"/>
          <p:cNvSpPr txBox="1"/>
          <p:nvPr/>
        </p:nvSpPr>
        <p:spPr>
          <a:xfrm>
            <a:off x="1508760" y="3630168"/>
            <a:ext cx="3749040" cy="594360"/>
          </a:xfrm>
          <a:prstGeom prst="rect">
            <a:avLst/>
          </a:prstGeom>
          <a:noFill/>
          <a:ln/>
        </p:spPr>
        <p:txBody>
          <a:bodyPr wrap="square" lIns="0" tIns="0" rIns="0" bIns="0" rtlCol="0" anchor="ctr"/>
          <a:lstStyle/>
          <a:p>
            <a:pPr indent="0" marL="0">
              <a:buNone/>
            </a:pPr>
            <a:r>
              <a:rPr lang="en-US" sz="1500" b="1" dirty="0">
                <a:solidFill>
                  <a:schemeClr val="tx2"/>
                </a:solidFill>
              </a:rPr>
              <a:t>DynamoDB persistence</a:t>
            </a:r>
            <a:endParaRPr lang="en-US" sz="1500" dirty="0"/>
          </a:p>
          <a:p>
            <a:pPr indent="0" marL="0">
              <a:buNone/>
            </a:pPr>
            <a:r>
              <a:rPr lang="en-US" sz="1300" dirty="0">
                <a:solidFill>
                  <a:schemeClr val="tx1"/>
                </a:solidFill>
              </a:rPr>
              <a:t>Storing and reading back events</a:t>
            </a:r>
            <a:endParaRPr lang="en-US" sz="1500" dirty="0"/>
          </a:p>
        </p:txBody>
      </p:sp>
      <p:sp>
        <p:nvSpPr>
          <p:cNvPr id="14" name="Shape 9"/>
          <p:cNvSpPr/>
          <p:nvPr/>
        </p:nvSpPr>
        <p:spPr>
          <a:xfrm>
            <a:off x="822960" y="4462272"/>
            <a:ext cx="502920" cy="502920"/>
          </a:xfrm>
          <a:prstGeom prst="ellipse">
            <a:avLst/>
          </a:prstGeom>
          <a:solidFill>
            <a:srgbClr val="173B6B"/>
          </a:solidFill>
          <a:ln/>
        </p:spPr>
      </p:sp>
      <p:pic>
        <p:nvPicPr>
          <p:cNvPr id="15" name="Image 3" descr="preencoded.png">    </p:cNvPr>
          <p:cNvPicPr>
            <a:picLocks noChangeAspect="1"/>
          </p:cNvPicPr>
          <p:nvPr/>
        </p:nvPicPr>
        <p:blipFill>
          <a:blip r:embed="rId4"/>
          <a:stretch>
            <a:fillRect/>
          </a:stretch>
        </p:blipFill>
        <p:spPr>
          <a:xfrm>
            <a:off x="958748" y="4598060"/>
            <a:ext cx="231343" cy="231343"/>
          </a:xfrm>
          <a:prstGeom prst="rect">
            <a:avLst/>
          </a:prstGeom>
        </p:spPr>
      </p:pic>
      <p:sp>
        <p:nvSpPr>
          <p:cNvPr id="16" name="Text 10"/>
          <p:cNvSpPr txBox="1"/>
          <p:nvPr/>
        </p:nvSpPr>
        <p:spPr>
          <a:xfrm>
            <a:off x="1508760" y="4416552"/>
            <a:ext cx="3749040" cy="594360"/>
          </a:xfrm>
          <a:prstGeom prst="rect">
            <a:avLst/>
          </a:prstGeom>
          <a:noFill/>
          <a:ln/>
        </p:spPr>
        <p:txBody>
          <a:bodyPr wrap="square" lIns="0" tIns="0" rIns="0" bIns="0" rtlCol="0" anchor="ctr"/>
          <a:lstStyle/>
          <a:p>
            <a:pPr indent="0" marL="0">
              <a:buNone/>
            </a:pPr>
            <a:r>
              <a:rPr lang="en-US" sz="1500" b="1" dirty="0">
                <a:solidFill>
                  <a:schemeClr val="tx2"/>
                </a:solidFill>
              </a:rPr>
              <a:t>IAM permissions</a:t>
            </a:r>
            <a:endParaRPr lang="en-US" sz="1500" dirty="0"/>
          </a:p>
          <a:p>
            <a:pPr indent="0" marL="0">
              <a:buNone/>
            </a:pPr>
            <a:r>
              <a:rPr lang="en-US" sz="1300" dirty="0">
                <a:solidFill>
                  <a:schemeClr val="tx1"/>
                </a:solidFill>
              </a:rPr>
              <a:t>Getting the execution role right</a:t>
            </a:r>
            <a:endParaRPr lang="en-US" sz="1500" dirty="0"/>
          </a:p>
        </p:txBody>
      </p:sp>
      <p:sp>
        <p:nvSpPr>
          <p:cNvPr id="17" name="Shape 11"/>
          <p:cNvSpPr/>
          <p:nvPr/>
        </p:nvSpPr>
        <p:spPr>
          <a:xfrm>
            <a:off x="822960" y="5248656"/>
            <a:ext cx="502920" cy="502920"/>
          </a:xfrm>
          <a:prstGeom prst="ellipse">
            <a:avLst/>
          </a:prstGeom>
          <a:solidFill>
            <a:srgbClr val="173B6B"/>
          </a:solidFill>
          <a:ln/>
        </p:spPr>
      </p:sp>
      <p:pic>
        <p:nvPicPr>
          <p:cNvPr id="18" name="Image 4" descr="preencoded.png">    </p:cNvPr>
          <p:cNvPicPr>
            <a:picLocks noChangeAspect="1"/>
          </p:cNvPicPr>
          <p:nvPr/>
        </p:nvPicPr>
        <p:blipFill>
          <a:blip r:embed="rId5"/>
          <a:stretch>
            <a:fillRect/>
          </a:stretch>
        </p:blipFill>
        <p:spPr>
          <a:xfrm>
            <a:off x="958748" y="5384444"/>
            <a:ext cx="231343" cy="231343"/>
          </a:xfrm>
          <a:prstGeom prst="rect">
            <a:avLst/>
          </a:prstGeom>
        </p:spPr>
      </p:pic>
      <p:sp>
        <p:nvSpPr>
          <p:cNvPr id="19" name="Text 12"/>
          <p:cNvSpPr txBox="1"/>
          <p:nvPr/>
        </p:nvSpPr>
        <p:spPr>
          <a:xfrm>
            <a:off x="1508760" y="5202936"/>
            <a:ext cx="3749040" cy="594360"/>
          </a:xfrm>
          <a:prstGeom prst="rect">
            <a:avLst/>
          </a:prstGeom>
          <a:noFill/>
          <a:ln/>
        </p:spPr>
        <p:txBody>
          <a:bodyPr wrap="square" lIns="0" tIns="0" rIns="0" bIns="0" rtlCol="0" anchor="ctr"/>
          <a:lstStyle/>
          <a:p>
            <a:pPr indent="0" marL="0">
              <a:buNone/>
            </a:pPr>
            <a:r>
              <a:rPr lang="en-US" sz="1500" b="1" dirty="0">
                <a:solidFill>
                  <a:schemeClr val="tx2"/>
                </a:solidFill>
              </a:rPr>
              <a:t>Logs and debugging</a:t>
            </a:r>
            <a:endParaRPr lang="en-US" sz="1500" dirty="0"/>
          </a:p>
          <a:p>
            <a:pPr indent="0" marL="0">
              <a:buNone/>
            </a:pPr>
            <a:r>
              <a:rPr lang="en-US" sz="1300" dirty="0">
                <a:solidFill>
                  <a:schemeClr val="tx1"/>
                </a:solidFill>
              </a:rPr>
              <a:t>CloudWatch to trace errors</a:t>
            </a:r>
            <a:endParaRPr lang="en-US" sz="1500" dirty="0"/>
          </a:p>
        </p:txBody>
      </p:sp>
      <p:sp>
        <p:nvSpPr>
          <p:cNvPr id="20" name="Shape 13"/>
          <p:cNvSpPr/>
          <p:nvPr/>
        </p:nvSpPr>
        <p:spPr>
          <a:xfrm>
            <a:off x="5669280" y="1463040"/>
            <a:ext cx="2880360" cy="4617720"/>
          </a:xfrm>
          <a:prstGeom prst="roundRect">
            <a:avLst>
              <a:gd name="adj" fmla="val 3175"/>
            </a:avLst>
          </a:prstGeom>
          <a:solidFill>
            <a:schemeClr val="bg1"/>
          </a:solidFill>
          <a:ln w="31750">
            <a:solidFill>
              <a:schemeClr val="accent2"/>
            </a:solidFill>
            <a:prstDash val="solid"/>
          </a:ln>
          <a:effectLst>
            <a:outerShdw sx="100000" sy="100000" kx="0" ky="0" algn="bl" rotWithShape="0" blurRad="76200" dist="25400" dir="5400000">
              <a:srgbClr val="000000">
                <a:alpha val="12000"/>
              </a:srgbClr>
            </a:outerShdw>
          </a:effectLst>
        </p:spPr>
      </p:sp>
      <p:sp>
        <p:nvSpPr>
          <p:cNvPr id="21" name="Shape 14"/>
          <p:cNvSpPr/>
          <p:nvPr/>
        </p:nvSpPr>
        <p:spPr>
          <a:xfrm>
            <a:off x="5852160" y="1691640"/>
            <a:ext cx="1554480" cy="310896"/>
          </a:xfrm>
          <a:prstGeom prst="roundRect">
            <a:avLst>
              <a:gd name="adj" fmla="val 50000"/>
            </a:avLst>
          </a:prstGeom>
          <a:solidFill>
            <a:schemeClr val="accent2"/>
          </a:solidFill>
          <a:ln/>
        </p:spPr>
      </p:sp>
      <p:sp>
        <p:nvSpPr>
          <p:cNvPr id="22" name="Text 15"/>
          <p:cNvSpPr txBox="1"/>
          <p:nvPr/>
        </p:nvSpPr>
        <p:spPr>
          <a:xfrm>
            <a:off x="5852160" y="1691640"/>
            <a:ext cx="1554480" cy="310896"/>
          </a:xfrm>
          <a:prstGeom prst="rect">
            <a:avLst/>
          </a:prstGeom>
          <a:noFill/>
          <a:ln/>
        </p:spPr>
        <p:txBody>
          <a:bodyPr wrap="square" lIns="0" tIns="0" rIns="0" bIns="0" rtlCol="0" anchor="ctr"/>
          <a:lstStyle/>
          <a:p>
            <a:pPr algn="ctr" indent="0" marL="0">
              <a:buNone/>
            </a:pPr>
            <a:r>
              <a:rPr lang="en-US" sz="1100" b="1" dirty="0">
                <a:solidFill>
                  <a:schemeClr val="tx2"/>
                </a:solidFill>
              </a:rPr>
              <a:t>Implemented</a:t>
            </a:r>
            <a:endParaRPr lang="en-US" sz="1100" dirty="0"/>
          </a:p>
        </p:txBody>
      </p:sp>
      <p:sp>
        <p:nvSpPr>
          <p:cNvPr id="23" name="Text 16"/>
          <p:cNvSpPr txBox="1"/>
          <p:nvPr/>
        </p:nvSpPr>
        <p:spPr>
          <a:xfrm>
            <a:off x="5852160" y="2240280"/>
            <a:ext cx="25603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IAM execution role for Lambda</a:t>
            </a:r>
            <a:endParaRPr lang="en-US" sz="1500" dirty="0"/>
          </a:p>
          <a:p>
            <a:pPr marL="342900" indent="-342900">
              <a:spcAft>
                <a:spcPts val="1000"/>
              </a:spcAft>
              <a:buSzPct val="100000"/>
              <a:buChar char="•"/>
            </a:pPr>
            <a:r>
              <a:rPr lang="en-US" sz="1500" dirty="0">
                <a:solidFill>
                  <a:schemeClr val="tx1"/>
                </a:solidFill>
              </a:rPr>
              <a:t>Role-based login</a:t>
            </a:r>
            <a:endParaRPr lang="en-US" sz="1500" dirty="0"/>
          </a:p>
          <a:p>
            <a:pPr marL="342900" indent="-342900">
              <a:spcAft>
                <a:spcPts val="1000"/>
              </a:spcAft>
              <a:buSzPct val="100000"/>
              <a:buChar char="•"/>
            </a:pPr>
            <a:r>
              <a:rPr lang="en-US" sz="1500" dirty="0">
                <a:solidFill>
                  <a:schemeClr val="tx1"/>
                </a:solidFill>
              </a:rPr>
              <a:t>CloudWatch logs</a:t>
            </a:r>
            <a:endParaRPr lang="en-US" sz="1500" dirty="0"/>
          </a:p>
          <a:p>
            <a:pPr marL="342900" indent="-342900">
              <a:spcAft>
                <a:spcPts val="1000"/>
              </a:spcAft>
              <a:buSzPct val="100000"/>
              <a:buChar char="•"/>
            </a:pPr>
            <a:r>
              <a:rPr lang="en-US" sz="1500" dirty="0">
                <a:solidFill>
                  <a:schemeClr val="tx1"/>
                </a:solidFill>
              </a:rPr>
              <a:t>Infrastructure defined with SAM</a:t>
            </a:r>
            <a:endParaRPr lang="en-US" sz="1500" dirty="0"/>
          </a:p>
        </p:txBody>
      </p:sp>
      <p:sp>
        <p:nvSpPr>
          <p:cNvPr id="24" name="Shape 17"/>
          <p:cNvSpPr/>
          <p:nvPr/>
        </p:nvSpPr>
        <p:spPr>
          <a:xfrm>
            <a:off x="8732520" y="1463040"/>
            <a:ext cx="2880360" cy="4617720"/>
          </a:xfrm>
          <a:prstGeom prst="roundRect">
            <a:avLst>
              <a:gd name="adj" fmla="val 3175"/>
            </a:avLst>
          </a:prstGeom>
          <a:solidFill>
            <a:schemeClr val="bg1"/>
          </a:solidFill>
          <a:ln w="31750">
            <a:solidFill>
              <a:schemeClr val="accent3"/>
            </a:solidFill>
            <a:prstDash val="dash"/>
          </a:ln>
        </p:spPr>
      </p:sp>
      <p:sp>
        <p:nvSpPr>
          <p:cNvPr id="25" name="Shape 18"/>
          <p:cNvSpPr/>
          <p:nvPr/>
        </p:nvSpPr>
        <p:spPr>
          <a:xfrm>
            <a:off x="8915400" y="1691640"/>
            <a:ext cx="2240280" cy="310896"/>
          </a:xfrm>
          <a:prstGeom prst="roundRect">
            <a:avLst>
              <a:gd name="adj" fmla="val 50000"/>
            </a:avLst>
          </a:prstGeom>
          <a:solidFill>
            <a:schemeClr val="accent3"/>
          </a:solidFill>
          <a:ln/>
        </p:spPr>
      </p:sp>
      <p:sp>
        <p:nvSpPr>
          <p:cNvPr id="26" name="Text 19"/>
          <p:cNvSpPr txBox="1"/>
          <p:nvPr/>
        </p:nvSpPr>
        <p:spPr>
          <a:xfrm>
            <a:off x="8915400" y="1691640"/>
            <a:ext cx="2240280" cy="310896"/>
          </a:xfrm>
          <a:prstGeom prst="rect">
            <a:avLst/>
          </a:prstGeom>
          <a:noFill/>
          <a:ln/>
        </p:spPr>
        <p:txBody>
          <a:bodyPr wrap="square" lIns="0" tIns="0" rIns="0" bIns="0" rtlCol="0" anchor="ctr"/>
          <a:lstStyle/>
          <a:p>
            <a:pPr algn="ctr" indent="0" marL="0">
              <a:buNone/>
            </a:pPr>
            <a:r>
              <a:rPr lang="en-US" sz="1100" b="1" dirty="0">
                <a:solidFill>
                  <a:schemeClr val="tx2"/>
                </a:solidFill>
              </a:rPr>
              <a:t>Proposed (not deployed)</a:t>
            </a:r>
            <a:endParaRPr lang="en-US" sz="1100" dirty="0"/>
          </a:p>
        </p:txBody>
      </p:sp>
      <p:sp>
        <p:nvSpPr>
          <p:cNvPr id="27" name="Text 20"/>
          <p:cNvSpPr txBox="1"/>
          <p:nvPr/>
        </p:nvSpPr>
        <p:spPr>
          <a:xfrm>
            <a:off x="8915400" y="2240280"/>
            <a:ext cx="251460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Amazon Cognito for identity</a:t>
            </a:r>
            <a:endParaRPr lang="en-US" sz="1500" dirty="0"/>
          </a:p>
          <a:p>
            <a:pPr marL="342900" indent="-342900">
              <a:spcAft>
                <a:spcPts val="1000"/>
              </a:spcAft>
              <a:buSzPct val="100000"/>
              <a:buChar char="•"/>
            </a:pPr>
            <a:r>
              <a:rPr lang="en-US" sz="1500" dirty="0">
                <a:solidFill>
                  <a:schemeClr val="tx1"/>
                </a:solidFill>
              </a:rPr>
              <a:t>VPC and private subnets</a:t>
            </a:r>
            <a:endParaRPr lang="en-US" sz="1500" dirty="0"/>
          </a:p>
          <a:p>
            <a:pPr marL="342900" indent="-342900">
              <a:spcAft>
                <a:spcPts val="1000"/>
              </a:spcAft>
              <a:buSzPct val="100000"/>
              <a:buChar char="•"/>
            </a:pPr>
            <a:r>
              <a:rPr lang="en-US" sz="1500" dirty="0">
                <a:solidFill>
                  <a:schemeClr val="tx1"/>
                </a:solidFill>
              </a:rPr>
              <a:t>Managed secrets handling</a:t>
            </a:r>
            <a:endParaRPr lang="en-US" sz="1500" dirty="0"/>
          </a:p>
          <a:p>
            <a:pPr marL="342900" indent="-342900">
              <a:spcAft>
                <a:spcPts val="1000"/>
              </a:spcAft>
              <a:buSzPct val="100000"/>
              <a:buChar char="•"/>
            </a:pPr>
            <a:r>
              <a:rPr lang="en-US" sz="1500" dirty="0">
                <a:solidFill>
                  <a:schemeClr val="tx1"/>
                </a:solidFill>
              </a:rPr>
              <a:t>Backup and DR improvements</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 and future enhancements</a:t>
            </a:r>
            <a:endParaRPr lang="en-US" sz="3400" dirty="0"/>
          </a:p>
        </p:txBody>
      </p:sp>
      <p:sp>
        <p:nvSpPr>
          <p:cNvPr id="3" name="Shape 1"/>
          <p:cNvSpPr/>
          <p:nvPr/>
        </p:nvSpPr>
        <p:spPr>
          <a:xfrm>
            <a:off x="566928" y="1463040"/>
            <a:ext cx="4937760" cy="4617720"/>
          </a:xfrm>
          <a:prstGeom prst="roundRect">
            <a:avLst>
              <a:gd name="adj" fmla="val 1980"/>
            </a:avLst>
          </a:prstGeom>
          <a:solidFill>
            <a:schemeClr val="tx2"/>
          </a:solidFill>
          <a:ln/>
        </p:spPr>
      </p:sp>
      <p:sp>
        <p:nvSpPr>
          <p:cNvPr id="4" name="Shape 2"/>
          <p:cNvSpPr/>
          <p:nvPr/>
        </p:nvSpPr>
        <p:spPr>
          <a:xfrm>
            <a:off x="868680" y="1737360"/>
            <a:ext cx="1828800" cy="310896"/>
          </a:xfrm>
          <a:prstGeom prst="roundRect">
            <a:avLst>
              <a:gd name="adj" fmla="val 50000"/>
            </a:avLst>
          </a:prstGeom>
          <a:solidFill>
            <a:schemeClr val="accent2"/>
          </a:solidFill>
          <a:ln/>
        </p:spPr>
      </p:sp>
      <p:sp>
        <p:nvSpPr>
          <p:cNvPr id="5" name="Text 3"/>
          <p:cNvSpPr txBox="1"/>
          <p:nvPr/>
        </p:nvSpPr>
        <p:spPr>
          <a:xfrm>
            <a:off x="868680" y="1737360"/>
            <a:ext cx="1828800" cy="310896"/>
          </a:xfrm>
          <a:prstGeom prst="rect">
            <a:avLst/>
          </a:prstGeom>
          <a:noFill/>
          <a:ln/>
        </p:spPr>
        <p:txBody>
          <a:bodyPr wrap="square" lIns="0" tIns="0" rIns="0" bIns="0" rtlCol="0" anchor="ctr"/>
          <a:lstStyle/>
          <a:p>
            <a:pPr algn="ctr" indent="0" marL="0">
              <a:buNone/>
            </a:pPr>
            <a:r>
              <a:rPr lang="en-US" sz="1100" b="1" dirty="0">
                <a:solidFill>
                  <a:schemeClr val="tx2"/>
                </a:solidFill>
              </a:rPr>
              <a:t>Built and validated</a:t>
            </a:r>
            <a:endParaRPr lang="en-US" sz="1100" dirty="0"/>
          </a:p>
        </p:txBody>
      </p:sp>
      <p:sp>
        <p:nvSpPr>
          <p:cNvPr id="6" name="Text 4"/>
          <p:cNvSpPr txBox="1"/>
          <p:nvPr/>
        </p:nvSpPr>
        <p:spPr>
          <a:xfrm>
            <a:off x="868680" y="2331720"/>
            <a:ext cx="434340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Serverless prototype on AWS: API Gateway, Lambda, DynamoDB</a:t>
            </a:r>
            <a:endParaRPr lang="en-US" sz="1600" dirty="0"/>
          </a:p>
          <a:p>
            <a:pPr marL="342900" indent="-342900">
              <a:spcAft>
                <a:spcPts val="1000"/>
              </a:spcAft>
              <a:buSzPct val="100000"/>
              <a:buChar char="•"/>
            </a:pPr>
            <a:r>
              <a:rPr lang="en-US" sz="1600" dirty="0">
                <a:solidFill>
                  <a:schemeClr val="bg1"/>
                </a:solidFill>
              </a:rPr>
              <a:t>Supported by IAM, CloudWatch, SAM / CloudFormation</a:t>
            </a:r>
            <a:endParaRPr lang="en-US" sz="1600" dirty="0"/>
          </a:p>
          <a:p>
            <a:pPr marL="342900" indent="-342900">
              <a:spcAft>
                <a:spcPts val="1000"/>
              </a:spcAft>
              <a:buSzPct val="100000"/>
              <a:buChar char="•"/>
            </a:pPr>
            <a:r>
              <a:rPr lang="en-US" sz="1600" dirty="0">
                <a:solidFill>
                  <a:schemeClr val="bg1"/>
                </a:solidFill>
              </a:rPr>
              <a:t>6 unit tests passed; SAM build and validation succeeded</a:t>
            </a:r>
            <a:endParaRPr lang="en-US" sz="1600" dirty="0"/>
          </a:p>
          <a:p>
            <a:pPr marL="342900" indent="-342900">
              <a:spcAft>
                <a:spcPts val="1000"/>
              </a:spcAft>
              <a:buSzPct val="100000"/>
              <a:buChar char="•"/>
            </a:pPr>
            <a:r>
              <a:rPr lang="en-US" sz="1600" dirty="0">
                <a:solidFill>
                  <a:schemeClr val="bg1"/>
                </a:solidFill>
              </a:rPr>
              <a:t>Deployed API tested: /health and /stats verified</a:t>
            </a:r>
            <a:endParaRPr lang="en-US" sz="1600" dirty="0"/>
          </a:p>
        </p:txBody>
      </p:sp>
      <p:sp>
        <p:nvSpPr>
          <p:cNvPr id="7" name="Text 5"/>
          <p:cNvSpPr txBox="1"/>
          <p:nvPr/>
        </p:nvSpPr>
        <p:spPr>
          <a:xfrm>
            <a:off x="868680" y="5212080"/>
            <a:ext cx="4297680" cy="548640"/>
          </a:xfrm>
          <a:prstGeom prst="rect">
            <a:avLst/>
          </a:prstGeom>
          <a:noFill/>
          <a:ln/>
        </p:spPr>
        <p:txBody>
          <a:bodyPr wrap="square" lIns="0" tIns="0" rIns="0" bIns="0" rtlCol="0" anchor="ctr"/>
          <a:lstStyle/>
          <a:p>
            <a:pPr indent="0" marL="0">
              <a:buNone/>
            </a:pPr>
            <a:r>
              <a:rPr lang="en-US" sz="2600" b="1" dirty="0">
                <a:solidFill>
                  <a:schemeClr val="accent2"/>
                </a:solidFill>
              </a:rPr>
              <a:t>Thank you. Questions?</a:t>
            </a:r>
            <a:endParaRPr lang="en-US" sz="2600" dirty="0"/>
          </a:p>
        </p:txBody>
      </p:sp>
      <p:sp>
        <p:nvSpPr>
          <p:cNvPr id="8" name="Shape 6"/>
          <p:cNvSpPr/>
          <p:nvPr/>
        </p:nvSpPr>
        <p:spPr>
          <a:xfrm>
            <a:off x="5760720" y="1463040"/>
            <a:ext cx="5852160" cy="4617720"/>
          </a:xfrm>
          <a:prstGeom prst="roundRect">
            <a:avLst>
              <a:gd name="adj" fmla="val 1980"/>
            </a:avLst>
          </a:prstGeom>
          <a:solidFill>
            <a:schemeClr val="bg1"/>
          </a:solidFill>
          <a:ln w="31750">
            <a:solidFill>
              <a:schemeClr val="accent3"/>
            </a:solidFill>
            <a:prstDash val="dash"/>
          </a:ln>
        </p:spPr>
      </p:sp>
      <p:sp>
        <p:nvSpPr>
          <p:cNvPr id="9" name="Shape 7"/>
          <p:cNvSpPr/>
          <p:nvPr/>
        </p:nvSpPr>
        <p:spPr>
          <a:xfrm>
            <a:off x="6035040" y="1737360"/>
            <a:ext cx="3017520" cy="310896"/>
          </a:xfrm>
          <a:prstGeom prst="roundRect">
            <a:avLst>
              <a:gd name="adj" fmla="val 50000"/>
            </a:avLst>
          </a:prstGeom>
          <a:solidFill>
            <a:schemeClr val="accent3"/>
          </a:solidFill>
          <a:ln/>
        </p:spPr>
      </p:sp>
      <p:sp>
        <p:nvSpPr>
          <p:cNvPr id="10" name="Text 8"/>
          <p:cNvSpPr txBox="1"/>
          <p:nvPr/>
        </p:nvSpPr>
        <p:spPr>
          <a:xfrm>
            <a:off x="6035040" y="1737360"/>
            <a:ext cx="3017520" cy="310896"/>
          </a:xfrm>
          <a:prstGeom prst="rect">
            <a:avLst/>
          </a:prstGeom>
          <a:noFill/>
          <a:ln/>
        </p:spPr>
        <p:txBody>
          <a:bodyPr wrap="square" lIns="0" tIns="0" rIns="0" bIns="0" rtlCol="0" anchor="ctr"/>
          <a:lstStyle/>
          <a:p>
            <a:pPr algn="ctr" indent="0" marL="0">
              <a:buNone/>
            </a:pPr>
            <a:r>
              <a:rPr lang="en-US" sz="1100" b="1" dirty="0">
                <a:solidFill>
                  <a:schemeClr val="tx2"/>
                </a:solidFill>
              </a:rPr>
              <a:t>Future Enhancements (not deployed)</a:t>
            </a:r>
            <a:endParaRPr lang="en-US" sz="1100" dirty="0"/>
          </a:p>
        </p:txBody>
      </p:sp>
      <p:sp>
        <p:nvSpPr>
          <p:cNvPr id="11" name="Shape 9"/>
          <p:cNvSpPr/>
          <p:nvPr/>
        </p:nvSpPr>
        <p:spPr>
          <a:xfrm>
            <a:off x="6035040" y="2377440"/>
            <a:ext cx="2606040" cy="749808"/>
          </a:xfrm>
          <a:prstGeom prst="roundRect">
            <a:avLst>
              <a:gd name="adj" fmla="val 12195"/>
            </a:avLst>
          </a:prstGeom>
          <a:solidFill>
            <a:schemeClr val="bg2"/>
          </a:solidFill>
          <a:ln/>
        </p:spPr>
      </p:sp>
      <p:sp>
        <p:nvSpPr>
          <p:cNvPr id="12" name="Text 10"/>
          <p:cNvSpPr txBox="1"/>
          <p:nvPr/>
        </p:nvSpPr>
        <p:spPr>
          <a:xfrm>
            <a:off x="6172200" y="23774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Amazon VPC and private subnets</a:t>
            </a:r>
            <a:endParaRPr lang="en-US" sz="1400" dirty="0"/>
          </a:p>
        </p:txBody>
      </p:sp>
      <p:sp>
        <p:nvSpPr>
          <p:cNvPr id="13" name="Shape 11"/>
          <p:cNvSpPr/>
          <p:nvPr/>
        </p:nvSpPr>
        <p:spPr>
          <a:xfrm>
            <a:off x="8778240" y="2377440"/>
            <a:ext cx="2606040" cy="749808"/>
          </a:xfrm>
          <a:prstGeom prst="roundRect">
            <a:avLst>
              <a:gd name="adj" fmla="val 12195"/>
            </a:avLst>
          </a:prstGeom>
          <a:solidFill>
            <a:schemeClr val="bg2"/>
          </a:solidFill>
          <a:ln/>
        </p:spPr>
      </p:sp>
      <p:sp>
        <p:nvSpPr>
          <p:cNvPr id="14" name="Text 12"/>
          <p:cNvSpPr txBox="1"/>
          <p:nvPr/>
        </p:nvSpPr>
        <p:spPr>
          <a:xfrm>
            <a:off x="8915400" y="23774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Amazon Cognito</a:t>
            </a:r>
            <a:endParaRPr lang="en-US" sz="1400" dirty="0"/>
          </a:p>
        </p:txBody>
      </p:sp>
      <p:sp>
        <p:nvSpPr>
          <p:cNvPr id="15" name="Shape 13"/>
          <p:cNvSpPr/>
          <p:nvPr/>
        </p:nvSpPr>
        <p:spPr>
          <a:xfrm>
            <a:off x="6035040" y="3291840"/>
            <a:ext cx="2606040" cy="749808"/>
          </a:xfrm>
          <a:prstGeom prst="roundRect">
            <a:avLst>
              <a:gd name="adj" fmla="val 12195"/>
            </a:avLst>
          </a:prstGeom>
          <a:solidFill>
            <a:schemeClr val="bg2"/>
          </a:solidFill>
          <a:ln/>
        </p:spPr>
      </p:sp>
      <p:sp>
        <p:nvSpPr>
          <p:cNvPr id="16" name="Text 14"/>
          <p:cNvSpPr txBox="1"/>
          <p:nvPr/>
        </p:nvSpPr>
        <p:spPr>
          <a:xfrm>
            <a:off x="6172200" y="32918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Dashboard on S3 and CloudFront</a:t>
            </a:r>
            <a:endParaRPr lang="en-US" sz="1400" dirty="0"/>
          </a:p>
        </p:txBody>
      </p:sp>
      <p:sp>
        <p:nvSpPr>
          <p:cNvPr id="17" name="Shape 15"/>
          <p:cNvSpPr/>
          <p:nvPr/>
        </p:nvSpPr>
        <p:spPr>
          <a:xfrm>
            <a:off x="8778240" y="3291840"/>
            <a:ext cx="2606040" cy="749808"/>
          </a:xfrm>
          <a:prstGeom prst="roundRect">
            <a:avLst>
              <a:gd name="adj" fmla="val 12195"/>
            </a:avLst>
          </a:prstGeom>
          <a:solidFill>
            <a:schemeClr val="bg2"/>
          </a:solidFill>
          <a:ln/>
        </p:spPr>
      </p:sp>
      <p:sp>
        <p:nvSpPr>
          <p:cNvPr id="18" name="Text 16"/>
          <p:cNvSpPr txBox="1"/>
          <p:nvPr/>
        </p:nvSpPr>
        <p:spPr>
          <a:xfrm>
            <a:off x="8915400" y="32918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IoT Core / MQTT ingestion</a:t>
            </a:r>
            <a:endParaRPr lang="en-US" sz="1400" dirty="0"/>
          </a:p>
        </p:txBody>
      </p:sp>
      <p:sp>
        <p:nvSpPr>
          <p:cNvPr id="19" name="Shape 17"/>
          <p:cNvSpPr/>
          <p:nvPr/>
        </p:nvSpPr>
        <p:spPr>
          <a:xfrm>
            <a:off x="6035040" y="4206240"/>
            <a:ext cx="2606040" cy="749808"/>
          </a:xfrm>
          <a:prstGeom prst="roundRect">
            <a:avLst>
              <a:gd name="adj" fmla="val 12195"/>
            </a:avLst>
          </a:prstGeom>
          <a:solidFill>
            <a:schemeClr val="bg2"/>
          </a:solidFill>
          <a:ln/>
        </p:spPr>
      </p:sp>
      <p:sp>
        <p:nvSpPr>
          <p:cNvPr id="20" name="Text 18"/>
          <p:cNvSpPr txBox="1"/>
          <p:nvPr/>
        </p:nvSpPr>
        <p:spPr>
          <a:xfrm>
            <a:off x="6172200" y="42062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Additional Lambda functions</a:t>
            </a:r>
            <a:endParaRPr lang="en-US" sz="1400" dirty="0"/>
          </a:p>
        </p:txBody>
      </p:sp>
      <p:sp>
        <p:nvSpPr>
          <p:cNvPr id="21" name="Shape 19"/>
          <p:cNvSpPr/>
          <p:nvPr/>
        </p:nvSpPr>
        <p:spPr>
          <a:xfrm>
            <a:off x="8778240" y="4206240"/>
            <a:ext cx="2606040" cy="749808"/>
          </a:xfrm>
          <a:prstGeom prst="roundRect">
            <a:avLst>
              <a:gd name="adj" fmla="val 12195"/>
            </a:avLst>
          </a:prstGeom>
          <a:solidFill>
            <a:schemeClr val="bg2"/>
          </a:solidFill>
          <a:ln/>
        </p:spPr>
      </p:sp>
      <p:sp>
        <p:nvSpPr>
          <p:cNvPr id="22" name="Text 20"/>
          <p:cNvSpPr txBox="1"/>
          <p:nvPr/>
        </p:nvSpPr>
        <p:spPr>
          <a:xfrm>
            <a:off x="8915400" y="42062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Backup and disaster recovery</a:t>
            </a:r>
            <a:endParaRPr lang="en-US" sz="1400" dirty="0"/>
          </a:p>
        </p:txBody>
      </p:sp>
      <p:sp>
        <p:nvSpPr>
          <p:cNvPr id="23" name="Shape 21"/>
          <p:cNvSpPr/>
          <p:nvPr/>
        </p:nvSpPr>
        <p:spPr>
          <a:xfrm>
            <a:off x="6035040" y="5120640"/>
            <a:ext cx="2606040" cy="749808"/>
          </a:xfrm>
          <a:prstGeom prst="roundRect">
            <a:avLst>
              <a:gd name="adj" fmla="val 12195"/>
            </a:avLst>
          </a:prstGeom>
          <a:solidFill>
            <a:schemeClr val="bg2"/>
          </a:solidFill>
          <a:ln/>
        </p:spPr>
      </p:sp>
      <p:sp>
        <p:nvSpPr>
          <p:cNvPr id="24" name="Text 22"/>
          <p:cNvSpPr txBox="1"/>
          <p:nvPr/>
        </p:nvSpPr>
        <p:spPr>
          <a:xfrm>
            <a:off x="6172200" y="51206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Athena and QuickSight analytics</a:t>
            </a:r>
            <a:endParaRPr lang="en-US" sz="1400" dirty="0"/>
          </a:p>
        </p:txBody>
      </p:sp>
      <p:sp>
        <p:nvSpPr>
          <p:cNvPr id="25" name="Shape 23"/>
          <p:cNvSpPr/>
          <p:nvPr/>
        </p:nvSpPr>
        <p:spPr>
          <a:xfrm>
            <a:off x="8778240" y="5120640"/>
            <a:ext cx="2606040" cy="749808"/>
          </a:xfrm>
          <a:prstGeom prst="roundRect">
            <a:avLst>
              <a:gd name="adj" fmla="val 12195"/>
            </a:avLst>
          </a:prstGeom>
          <a:solidFill>
            <a:schemeClr val="bg2"/>
          </a:solidFill>
          <a:ln/>
        </p:spPr>
      </p:sp>
      <p:sp>
        <p:nvSpPr>
          <p:cNvPr id="26" name="Text 24"/>
          <p:cNvSpPr txBox="1"/>
          <p:nvPr/>
        </p:nvSpPr>
        <p:spPr>
          <a:xfrm>
            <a:off x="8915400" y="5120640"/>
            <a:ext cx="2331720" cy="749808"/>
          </a:xfrm>
          <a:prstGeom prst="rect">
            <a:avLst/>
          </a:prstGeom>
          <a:noFill/>
          <a:ln/>
        </p:spPr>
        <p:txBody>
          <a:bodyPr wrap="square" lIns="0" tIns="0" rIns="0" bIns="0" rtlCol="0" anchor="ctr"/>
          <a:lstStyle/>
          <a:p>
            <a:pPr indent="0" marL="0">
              <a:buNone/>
            </a:pPr>
            <a:r>
              <a:rPr lang="en-US" sz="1400" b="1" dirty="0">
                <a:solidFill>
                  <a:schemeClr val="tx2"/>
                </a:solidFill>
              </a:rPr>
              <a:t>ECR / ECS container deployment</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mpusPulse">
  <a:themeElements>
    <a:clrScheme name="CampusPulse">
      <a:dk1>
        <a:srgbClr val="1B2A41"/>
      </a:dk1>
      <a:lt1>
        <a:srgbClr val="FFFFFF"/>
      </a:lt1>
      <a:dk2>
        <a:srgbClr val="0B1F3A"/>
      </a:dk2>
      <a:lt2>
        <a:srgbClr val="EDF3FA"/>
      </a:lt2>
      <a:accent1>
        <a:srgbClr val="173B6B"/>
      </a:accent1>
      <a:accent2>
        <a:srgbClr val="1FB6D1"/>
      </a:accent2>
      <a:accent3>
        <a:srgbClr val="FF9900"/>
      </a:accent3>
      <a:accent4>
        <a:srgbClr val="5B6B82"/>
      </a:accent4>
      <a:accent5>
        <a:srgbClr val="2BA876"/>
      </a:accent5>
      <a:accent6>
        <a:srgbClr val="A85700"/>
      </a:accent6>
      <a:hlink>
        <a:srgbClr val="1FB6D1"/>
      </a:hlink>
      <a:folHlink>
        <a:srgbClr val="5B6B82"/>
      </a:folHlink>
    </a:clrScheme>
    <a:fontScheme name="Campus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2026 — Final Presentation</dc:title>
  <dc:subject>PptxGenJS Presentation</dc:subject>
  <dc:creator>Joswikkha Dilli Babu, Preethi Krishnamoorthi, Anbuselvan Ponnusamy</dc:creator>
  <cp:lastModifiedBy>Joswikkha Dilli Babu, Preethi Krishnamoorthi, Anbuselvan Ponnusamy</cp:lastModifiedBy>
  <cp:revision>1</cp:revision>
  <dcterms:created xsi:type="dcterms:W3CDTF">2026-10-10T08:38:54Z</dcterms:created>
  <dcterms:modified xsi:type="dcterms:W3CDTF">2026-10-10T08:38:54Z</dcterms:modified>
</cp:coreProperties>
</file>