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(0:00 - 1:00)</a:t>
            </a:r>
          </a:p>
          <a:p>
            <a:r>
              <a:t>Speaker Notes: Good morning/afternoon everyone. Today we are presenting CampusPulse 2026, our cloud-native smart campus operations platform. CampusPulse was designed and deployed on AWS in the Paris region (eu-west-3). It provides a serverless pipeline for ingesting simulated campus telemetry, storing records persistently in DynamoDB, calculating real-time facility metrics, and detecting operational alerts. Presented by Joswikkha, Preethi, and Anbuselvan.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(1:00 - 2:00)</a:t>
            </a:r>
          </a:p>
          <a:p>
            <a:r>
              <a:t>Speaker Notes: Why CampusPulse? Modern universities manage dozens of buildings. When a lab overheats or room occupancy surges, campus staff need immediate visibility without running expensive dedicated servers 24/7. Our primary goals were to create a working AWS serverless architecture deployed via SAM, accept simulated event streams, validate metrics against strict thresholds, persist them to DynamoDB, and demonstrate clear role separation.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 min (2:00 - 3:30)</a:t>
            </a:r>
          </a:p>
          <a:p>
            <a:r>
              <a:t>Speaker Notes: This is our architectural breakdown. Notice the strict visual separation: Top is our verified deployed system in AWS eu-west-3. The request flow is API Gateway -&gt; Lambda -&gt; DynamoDB. API Gateway exposes the REST API with CORS enabled. Lambda validates payloads, computes running statistics, and classifies alerts based on thresholds. Events are stored in DynamoDB table CampusPulseEvents under on-demand capacity. Lambda execution permissions are managed with IAM least privilege, and execution logs stream into CloudWatch.</a:t>
            </a:r>
          </a:p>
          <a:p>
            <a:r>
              <a:t>Critically, at the bottom in yellow, we explicitly label proposed future enhancements that are NOT implemented: Cognito, S3/CloudFront UI, VPC isolation, and automated backups. We do not claim features that are not active.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(3:30 - 4:30)</a:t>
            </a:r>
          </a:p>
          <a:p>
            <a:r>
              <a:t>Speaker Notes: Looking at implementation: Our backend is written in Python 3.12 and deployed as a single Lambda handler. We exposed 6 clean REST endpoints under the /prod stage. Ingestion via POST /events requires admin privileges, while operational reads are accessible to operators. The backend performs input sanitization, raises alerts automatically when thresholds are crossed, and aggregates telemetry dynamically without requiring separate database query daemons.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(4:30 - 5:30)</a:t>
            </a:r>
          </a:p>
          <a:p>
            <a:r>
              <a:t>Speaker Notes: Security was an explicit consideration. On the AWS cloud side, IAM roles strictly follow least privilege: Lambda only has access to its specific DynamoDB table and its own log group. At the application layer, we implemented role differentiation between Operators and Admins using bearer tokens. We are completely transparent in noting that this demo login is educational; production readiness requires Amazon Cognito, AWS Secrets Manager, and VPC endpoints.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 min (5:30 - 7:00)</a:t>
            </a:r>
          </a:p>
          <a:p>
            <a:r>
              <a:t>Speaker Notes: We thoroughly validated both local code and live deployment. All 6 unit tests passed in under 2 milliseconds. When running our event generator against the live API Gateway URL in Paris, all 4 events returned HTTP 201 and persisted into DynamoDB. An earlier question in testing was why /stats reported 180 people occupancy. We traced this mathematically to the backend aggregation logic: The system sums the most recent reading for each distinct monitored room. Room A203 had 95 people, Room 101 had 85 people. 95 plus 85 equals 180. The math is completely accurate.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(7:00 - 8:00)</a:t>
            </a:r>
          </a:p>
          <a:p>
            <a:r>
              <a:t>Speaker Notes: By choosing AWS serverless technologies, we minimized costs: No idle server fees, no active NAT Gateways. Total testing cost was under 1 cent and well within the AWS Free Tier. In terms of scalability, Lambda and DynamoDB scale automatically with incoming traffic. However, we critically acknowledge an architectural limit: our aggregation currently relies on DynamoDB scans, which works for a demo dataset but would require GSIs and DynamoDB Streams at university-wide scale.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(8:00 - 9:00)</a:t>
            </a:r>
          </a:p>
          <a:p>
            <a:r>
              <a:t>Speaker Notes: To be completely transparent about our engineering boundaries, we compiled a clear production roadmap. None of these items are claimed as implemented today. For production, the priority steps would be: First, replacing demo credentials with Cognito. Second, adding an S3/CloudFront web portal. Third, enclosing compute within a VPC with Gateway endpoints. And fourth, enabling DynamoDB Point-in-Time Recovery and SNS push alerts.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(9:00 - 10:00)</a:t>
            </a:r>
          </a:p>
          <a:p>
            <a:r>
              <a:t>Speaker Notes: To conclude, CampusPulse 2026 demonstrates how modern serverless services on AWS can be architected to solve practical campus operations challenges in an event-driven, cost-effective, and observable manner. We are now happy to show our live demo sequence following steps 1 through 6, and answer any questions from the panel.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371600" y="1097280"/>
            <a:ext cx="9448495" cy="466344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548640" lIns="731520"/>
          <a:lstStyle/>
          <a:p>
            <a:pPr algn="ctr">
              <a:defRPr sz="3600" b="1">
                <a:solidFill>
                  <a:srgbClr val="F8FAFC"/>
                </a:solidFill>
              </a:defRPr>
            </a:pPr>
            <a:r>
              <a:t>CampusPulse 2026</a:t>
            </a:r>
          </a:p>
          <a:p>
            <a:pPr>
              <a:spcBef>
                <a:spcPts val="800"/>
              </a:spcBef>
              <a:defRPr sz="2000">
                <a:solidFill>
                  <a:srgbClr val="38BDF8"/>
                </a:solidFill>
              </a:defRPr>
            </a:pPr>
            <a:r>
              <a:t>Cloud-Native Smart Campus Operations Platform</a:t>
            </a:r>
          </a:p>
          <a:p>
            <a:pPr>
              <a:spcBef>
                <a:spcPts val="2400"/>
              </a:spcBef>
              <a:defRPr sz="1300">
                <a:solidFill>
                  <a:srgbClr val="94A3B8"/>
                </a:solidFill>
              </a:defRPr>
            </a:pPr>
            <a:r>
              <a:t>Module: Big Data &amp; Cloud Computing | Academic Year 2025–2026</a:t>
            </a:r>
          </a:p>
          <a:p>
            <a:pPr>
              <a:spcBef>
                <a:spcPts val="600"/>
              </a:spcBef>
              <a:defRPr sz="1300">
                <a:solidFill>
                  <a:srgbClr val="94A3B8"/>
                </a:solidFill>
              </a:defRPr>
            </a:pPr>
            <a:r>
              <a:t>Cloud Provider: Amazon Web Services (AWS) | Region: Paris (eu-west-3)</a:t>
            </a:r>
          </a:p>
          <a:p>
            <a:pPr>
              <a:spcBef>
                <a:spcPts val="2800"/>
              </a:spcBef>
              <a:defRPr sz="1400" b="1">
                <a:solidFill>
                  <a:srgbClr val="4ADE80"/>
                </a:solidFill>
              </a:defRPr>
            </a:pPr>
            <a:r>
              <a:t>Project Team: Joswikkha Dilli Babu  •  Preethi Krishnamoorthi  •  Anbuselvan Ponnusamy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defRPr sz="2400" b="1">
                <a:solidFill>
                  <a:srgbClr val="F8FAFC"/>
                </a:solidFill>
              </a:defRPr>
            </a:pPr>
            <a:r>
              <a:t>1. Project Objectives &amp; Operational Scope</a:t>
            </a:r>
          </a:p>
          <a:p>
            <a:pPr>
              <a:defRPr sz="1100">
                <a:solidFill>
                  <a:srgbClr val="38BDF8"/>
                </a:solidFill>
              </a:defRPr>
            </a:pPr>
            <a:r>
              <a:t>CampusPulse 2026 | AWS eu-west-3 (Paris)</a:t>
            </a:r>
          </a:p>
        </p:txBody>
      </p:sp>
      <p:sp>
        <p:nvSpPr>
          <p:cNvPr id="4" name="Rounded Rectangle 3"/>
          <p:cNvSpPr/>
          <p:nvPr/>
        </p:nvSpPr>
        <p:spPr>
          <a:xfrm>
            <a:off x="731520" y="1463040"/>
            <a:ext cx="3328416"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rIns="274320"/>
          <a:lstStyle/>
          <a:p>
            <a:pPr algn="ctr">
              <a:defRPr sz="1600" b="1">
                <a:solidFill>
                  <a:srgbClr val="F97316"/>
                </a:solidFill>
              </a:defRPr>
            </a:pPr>
            <a:r>
              <a:t>The Challenge</a:t>
            </a:r>
          </a:p>
          <a:p>
            <a:pPr>
              <a:spcBef>
                <a:spcPts val="1200"/>
              </a:spcBef>
              <a:defRPr sz="1200">
                <a:solidFill>
                  <a:srgbClr val="F8FAFC"/>
                </a:solidFill>
              </a:defRPr>
            </a:pPr>
            <a:r>
              <a:t>• Campus facilities generate continuous telemetry (occupancy, energy, temperature).</a:t>
            </a:r>
          </a:p>
          <a:p>
            <a:pPr>
              <a:spcBef>
                <a:spcPts val="1200"/>
              </a:spcBef>
              <a:defRPr sz="1200">
                <a:solidFill>
                  <a:srgbClr val="F8FAFC"/>
                </a:solidFill>
              </a:defRPr>
            </a:pPr>
            <a:r>
              <a:t>• Manual logs and disparate sensors lead to delayed anomaly detection and wasted energy.</a:t>
            </a:r>
          </a:p>
          <a:p>
            <a:pPr>
              <a:spcBef>
                <a:spcPts val="1200"/>
              </a:spcBef>
              <a:defRPr sz="1200">
                <a:solidFill>
                  <a:srgbClr val="F8FAFC"/>
                </a:solidFill>
              </a:defRPr>
            </a:pPr>
            <a:r>
              <a:t>• Requirement: A lightweight, event-driven, cost-conscious ingestion &amp; monitoring pipeline.</a:t>
            </a:r>
          </a:p>
        </p:txBody>
      </p:sp>
      <p:sp>
        <p:nvSpPr>
          <p:cNvPr id="5" name="Rounded Rectangle 4"/>
          <p:cNvSpPr/>
          <p:nvPr/>
        </p:nvSpPr>
        <p:spPr>
          <a:xfrm>
            <a:off x="4407408" y="1463040"/>
            <a:ext cx="3328416"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rIns="274320"/>
          <a:lstStyle/>
          <a:p>
            <a:pPr algn="ctr">
              <a:defRPr sz="1600" b="1">
                <a:solidFill>
                  <a:srgbClr val="38BDF8"/>
                </a:solidFill>
              </a:defRPr>
            </a:pPr>
            <a:r>
              <a:t>Core Objectives</a:t>
            </a:r>
          </a:p>
          <a:p>
            <a:pPr>
              <a:spcBef>
                <a:spcPts val="1200"/>
              </a:spcBef>
              <a:defRPr sz="1200">
                <a:solidFill>
                  <a:srgbClr val="F8FAFC"/>
                </a:solidFill>
              </a:defRPr>
            </a:pPr>
            <a:r>
              <a:t>• Deploy a cloud-hosted REST API with public &amp; protected endpoints in AWS eu-west-3.</a:t>
            </a:r>
          </a:p>
          <a:p>
            <a:pPr>
              <a:spcBef>
                <a:spcPts val="1200"/>
              </a:spcBef>
              <a:defRPr sz="1200">
                <a:solidFill>
                  <a:srgbClr val="F8FAFC"/>
                </a:solidFill>
              </a:defRPr>
            </a:pPr>
            <a:r>
              <a:t>• Ingest simulated JSON event streams using Python automation.</a:t>
            </a:r>
          </a:p>
          <a:p>
            <a:pPr>
              <a:spcBef>
                <a:spcPts val="1200"/>
              </a:spcBef>
              <a:defRPr sz="1200">
                <a:solidFill>
                  <a:srgbClr val="F8FAFC"/>
                </a:solidFill>
              </a:defRPr>
            </a:pPr>
            <a:r>
              <a:t>• Validate data integrity, compute live operations statistics, and classify alerts.</a:t>
            </a:r>
          </a:p>
          <a:p>
            <a:pPr>
              <a:spcBef>
                <a:spcPts val="1200"/>
              </a:spcBef>
              <a:defRPr sz="1200">
                <a:solidFill>
                  <a:srgbClr val="F8FAFC"/>
                </a:solidFill>
              </a:defRPr>
            </a:pPr>
            <a:r>
              <a:t>• Enforce role-based access control (Admin &amp; Operator roles) with least privilege IAM.</a:t>
            </a:r>
          </a:p>
        </p:txBody>
      </p:sp>
      <p:sp>
        <p:nvSpPr>
          <p:cNvPr id="6" name="Rounded Rectangle 5"/>
          <p:cNvSpPr/>
          <p:nvPr/>
        </p:nvSpPr>
        <p:spPr>
          <a:xfrm>
            <a:off x="8083296" y="1463040"/>
            <a:ext cx="3328416" cy="475488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rIns="274320"/>
          <a:lstStyle/>
          <a:p>
            <a:pPr algn="ctr">
              <a:defRPr sz="1600" b="1">
                <a:solidFill>
                  <a:srgbClr val="4ADE80"/>
                </a:solidFill>
              </a:defRPr>
            </a:pPr>
            <a:r>
              <a:t>Success Criteria</a:t>
            </a:r>
          </a:p>
          <a:p>
            <a:pPr>
              <a:spcBef>
                <a:spcPts val="1200"/>
              </a:spcBef>
              <a:defRPr sz="1200">
                <a:solidFill>
                  <a:srgbClr val="F8FAFC"/>
                </a:solidFill>
              </a:defRPr>
            </a:pPr>
            <a:r>
              <a:t>• 100% serverless: Zero provisioned server instances, pay-per-request billing.</a:t>
            </a:r>
          </a:p>
          <a:p>
            <a:pPr>
              <a:spcBef>
                <a:spcPts val="1200"/>
              </a:spcBef>
              <a:defRPr sz="1200">
                <a:solidFill>
                  <a:srgbClr val="F8FAFC"/>
                </a:solidFill>
              </a:defRPr>
            </a:pPr>
            <a:r>
              <a:t>• High test coverage: Automated Python unit tests verifying edge cases and business rules.</a:t>
            </a:r>
          </a:p>
          <a:p>
            <a:pPr>
              <a:spcBef>
                <a:spcPts val="1200"/>
              </a:spcBef>
              <a:defRPr sz="1200">
                <a:solidFill>
                  <a:srgbClr val="F8FAFC"/>
                </a:solidFill>
              </a:defRPr>
            </a:pPr>
            <a:r>
              <a:t>• Full observability: Real-time CloudWatch execution logs for audit and diagnostics.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defRPr sz="2400" b="1">
                <a:solidFill>
                  <a:srgbClr val="F8FAFC"/>
                </a:solidFill>
              </a:defRPr>
            </a:pPr>
            <a:r>
              <a:t>2. System Architecture: Verified Live vs Proposed Future</a:t>
            </a:r>
          </a:p>
          <a:p>
            <a:pPr>
              <a:defRPr sz="1100">
                <a:solidFill>
                  <a:srgbClr val="38BDF8"/>
                </a:solidFill>
              </a:defRPr>
            </a:pPr>
            <a:r>
              <a:t>CampusPulse 2026 | AWS eu-west-3 (Paris)</a:t>
            </a:r>
          </a:p>
        </p:txBody>
      </p:sp>
      <p:sp>
        <p:nvSpPr>
          <p:cNvPr id="4" name="Rounded Rectangle 3"/>
          <p:cNvSpPr/>
          <p:nvPr/>
        </p:nvSpPr>
        <p:spPr>
          <a:xfrm>
            <a:off x="731520" y="1371600"/>
            <a:ext cx="10728655" cy="3108960"/>
          </a:xfrm>
          <a:prstGeom prst="roundRect">
            <a:avLst/>
          </a:prstGeom>
          <a:solidFill>
            <a:srgbClr val="1E293B"/>
          </a:solidFill>
          <a:ln w="1905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508760"/>
            <a:ext cx="2926080" cy="320040"/>
          </a:xfrm>
          <a:prstGeom prst="round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8FAFC"/>
                </a:solidFill>
              </a:defRPr>
            </a:pPr>
            <a:r>
              <a:t>VERIFIED LIVE ARCHITECTURE (DEPLOYED)</a:t>
            </a:r>
          </a:p>
        </p:txBody>
      </p:sp>
      <p:sp>
        <p:nvSpPr>
          <p:cNvPr id="6" name="Rounded Rectangle 5"/>
          <p:cNvSpPr/>
          <p:nvPr/>
        </p:nvSpPr>
        <p:spPr>
          <a:xfrm>
            <a:off x="914400" y="2011680"/>
            <a:ext cx="2194560" cy="2194560"/>
          </a:xfrm>
          <a:prstGeom prst="roundRect">
            <a:avLst/>
          </a:prstGeom>
          <a:solidFill>
            <a:srgbClr val="0F172A"/>
          </a:solidFill>
          <a:ln w="1524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wrap="square" tIns="137160" lIns="137160"/>
          <a:lstStyle/>
          <a:p>
            <a:pPr algn="ctr">
              <a:defRPr sz="1200" b="1">
                <a:solidFill>
                  <a:srgbClr val="A855F7"/>
                </a:solidFill>
              </a:defRPr>
            </a:pPr>
            <a:r>
              <a:t>Client / Ingestion</a:t>
            </a:r>
          </a:p>
          <a:p>
            <a:pPr>
              <a:spcBef>
                <a:spcPts val="300"/>
              </a:spcBef>
              <a:defRPr sz="950">
                <a:solidFill>
                  <a:srgbClr val="F8FAFC"/>
                </a:solidFill>
              </a:defRPr>
            </a:pPr>
            <a:r>
              <a:t>• generate_events.py</a:t>
            </a:r>
          </a:p>
          <a:p>
            <a:pPr>
              <a:spcBef>
                <a:spcPts val="300"/>
              </a:spcBef>
              <a:defRPr sz="950">
                <a:solidFill>
                  <a:srgbClr val="F8FAFC"/>
                </a:solidFill>
              </a:defRPr>
            </a:pPr>
            <a:r>
              <a:t>• REST Clients / PS</a:t>
            </a:r>
          </a:p>
          <a:p>
            <a:pPr>
              <a:spcBef>
                <a:spcPts val="300"/>
              </a:spcBef>
              <a:defRPr sz="950">
                <a:solidFill>
                  <a:srgbClr val="F8FAFC"/>
                </a:solidFill>
              </a:defRPr>
            </a:pPr>
            <a:r>
              <a:t>• TLS 1.2+ HTTPS</a:t>
            </a:r>
          </a:p>
          <a:p>
            <a:pPr>
              <a:spcBef>
                <a:spcPts val="300"/>
              </a:spcBef>
              <a:defRPr sz="950">
                <a:solidFill>
                  <a:srgbClr val="F8FAFC"/>
                </a:solidFill>
              </a:defRPr>
            </a:pPr>
            <a:r>
              <a:t>• Admin &amp; Operator</a:t>
            </a:r>
          </a:p>
        </p:txBody>
      </p:sp>
      <p:sp>
        <p:nvSpPr>
          <p:cNvPr id="7" name="Rounded Rectangle 6"/>
          <p:cNvSpPr/>
          <p:nvPr/>
        </p:nvSpPr>
        <p:spPr>
          <a:xfrm>
            <a:off x="3566160" y="2011680"/>
            <a:ext cx="2377440" cy="2194560"/>
          </a:xfrm>
          <a:prstGeom prst="roundRect">
            <a:avLst/>
          </a:prstGeom>
          <a:solidFill>
            <a:srgbClr val="0F172A"/>
          </a:solidFill>
          <a:ln w="152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tIns="137160" lIns="137160"/>
          <a:lstStyle/>
          <a:p>
            <a:pPr algn="ctr">
              <a:defRPr sz="1200" b="1">
                <a:solidFill>
                  <a:srgbClr val="38BDF8"/>
                </a:solidFill>
              </a:defRPr>
            </a:pPr>
            <a:r>
              <a:t>Amazon API Gateway</a:t>
            </a:r>
          </a:p>
          <a:p>
            <a:pPr>
              <a:spcBef>
                <a:spcPts val="300"/>
              </a:spcBef>
              <a:defRPr sz="950">
                <a:solidFill>
                  <a:srgbClr val="F8FAFC"/>
                </a:solidFill>
              </a:defRPr>
            </a:pPr>
            <a:r>
              <a:t>• REST API (prod)</a:t>
            </a:r>
          </a:p>
          <a:p>
            <a:pPr>
              <a:spcBef>
                <a:spcPts val="300"/>
              </a:spcBef>
              <a:defRPr sz="950">
                <a:solidFill>
                  <a:srgbClr val="F8FAFC"/>
                </a:solidFill>
              </a:defRPr>
            </a:pPr>
            <a:r>
              <a:t>• GET /health (Public)</a:t>
            </a:r>
          </a:p>
          <a:p>
            <a:pPr>
              <a:spcBef>
                <a:spcPts val="300"/>
              </a:spcBef>
              <a:defRPr sz="950">
                <a:solidFill>
                  <a:srgbClr val="F8FAFC"/>
                </a:solidFill>
              </a:defRPr>
            </a:pPr>
            <a:r>
              <a:t>• POST /login (Auth)</a:t>
            </a:r>
          </a:p>
          <a:p>
            <a:pPr>
              <a:spcBef>
                <a:spcPts val="300"/>
              </a:spcBef>
              <a:defRPr sz="950">
                <a:solidFill>
                  <a:srgbClr val="F8FAFC"/>
                </a:solidFill>
              </a:defRPr>
            </a:pPr>
            <a:r>
              <a:t>• GET &amp; POST /events</a:t>
            </a:r>
          </a:p>
          <a:p>
            <a:pPr>
              <a:spcBef>
                <a:spcPts val="300"/>
              </a:spcBef>
              <a:defRPr sz="950">
                <a:solidFill>
                  <a:srgbClr val="F8FAFC"/>
                </a:solidFill>
              </a:defRPr>
            </a:pPr>
            <a:r>
              <a:t>• GET /stats, /alerts</a:t>
            </a:r>
          </a:p>
        </p:txBody>
      </p:sp>
      <p:sp>
        <p:nvSpPr>
          <p:cNvPr id="8" name="Rounded Rectangle 7"/>
          <p:cNvSpPr/>
          <p:nvPr/>
        </p:nvSpPr>
        <p:spPr>
          <a:xfrm>
            <a:off x="6400800" y="2011680"/>
            <a:ext cx="2377440" cy="2194560"/>
          </a:xfrm>
          <a:prstGeom prst="roundRect">
            <a:avLst/>
          </a:prstGeom>
          <a:solidFill>
            <a:srgbClr val="0F172A"/>
          </a:solidFill>
          <a:ln w="1524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tIns="137160" lIns="137160"/>
          <a:lstStyle/>
          <a:p>
            <a:pPr algn="ctr">
              <a:defRPr sz="1200" b="1">
                <a:solidFill>
                  <a:srgbClr val="F97316"/>
                </a:solidFill>
              </a:defRPr>
            </a:pPr>
            <a:r>
              <a:t>AWS Lambda Function</a:t>
            </a:r>
          </a:p>
          <a:p>
            <a:pPr>
              <a:spcBef>
                <a:spcPts val="300"/>
              </a:spcBef>
              <a:defRPr sz="950">
                <a:solidFill>
                  <a:srgbClr val="F8FAFC"/>
                </a:solidFill>
              </a:defRPr>
            </a:pPr>
            <a:r>
              <a:t>• Python 3.12 | 256MB</a:t>
            </a:r>
          </a:p>
          <a:p>
            <a:pPr>
              <a:spcBef>
                <a:spcPts val="300"/>
              </a:spcBef>
              <a:defRPr sz="950">
                <a:solidFill>
                  <a:srgbClr val="F8FAFC"/>
                </a:solidFill>
              </a:defRPr>
            </a:pPr>
            <a:r>
              <a:t>• Validation logic</a:t>
            </a:r>
          </a:p>
          <a:p>
            <a:pPr>
              <a:spcBef>
                <a:spcPts val="300"/>
              </a:spcBef>
              <a:defRPr sz="950">
                <a:solidFill>
                  <a:srgbClr val="F8FAFC"/>
                </a:solidFill>
              </a:defRPr>
            </a:pPr>
            <a:r>
              <a:t>• Threshold classification</a:t>
            </a:r>
          </a:p>
          <a:p>
            <a:pPr>
              <a:spcBef>
                <a:spcPts val="300"/>
              </a:spcBef>
              <a:defRPr sz="950">
                <a:solidFill>
                  <a:srgbClr val="F8FAFC"/>
                </a:solidFill>
              </a:defRPr>
            </a:pPr>
            <a:r>
              <a:t>• Latest room occupancy</a:t>
            </a:r>
          </a:p>
          <a:p>
            <a:pPr>
              <a:spcBef>
                <a:spcPts val="300"/>
              </a:spcBef>
              <a:defRPr sz="950">
                <a:solidFill>
                  <a:srgbClr val="F8FAFC"/>
                </a:solidFill>
              </a:defRPr>
            </a:pPr>
            <a:r>
              <a:t>• IAM Execution Role</a:t>
            </a:r>
          </a:p>
        </p:txBody>
      </p:sp>
      <p:sp>
        <p:nvSpPr>
          <p:cNvPr id="9" name="Rounded Rectangle 8"/>
          <p:cNvSpPr/>
          <p:nvPr/>
        </p:nvSpPr>
        <p:spPr>
          <a:xfrm>
            <a:off x="9235440" y="2011680"/>
            <a:ext cx="2011680" cy="2194560"/>
          </a:xfrm>
          <a:prstGeom prst="roundRect">
            <a:avLst/>
          </a:prstGeom>
          <a:solidFill>
            <a:srgbClr val="0F172A"/>
          </a:solidFill>
          <a:ln w="1524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tIns="137160" lIns="137160"/>
          <a:lstStyle/>
          <a:p>
            <a:pPr algn="ctr">
              <a:defRPr sz="1200" b="1">
                <a:solidFill>
                  <a:srgbClr val="4ADE80"/>
                </a:solidFill>
              </a:defRPr>
            </a:pPr>
            <a:r>
              <a:t>Amazon DynamoDB</a:t>
            </a:r>
          </a:p>
          <a:p>
            <a:pPr>
              <a:spcBef>
                <a:spcPts val="300"/>
              </a:spcBef>
              <a:defRPr sz="950">
                <a:solidFill>
                  <a:srgbClr val="F8FAFC"/>
                </a:solidFill>
              </a:defRPr>
            </a:pPr>
            <a:r>
              <a:t>• CampusPulseEvents</a:t>
            </a:r>
          </a:p>
          <a:p>
            <a:pPr>
              <a:spcBef>
                <a:spcPts val="300"/>
              </a:spcBef>
              <a:defRPr sz="950">
                <a:solidFill>
                  <a:srgbClr val="F8FAFC"/>
                </a:solidFill>
              </a:defRPr>
            </a:pPr>
            <a:r>
              <a:t>• PK: event_id (S)</a:t>
            </a:r>
          </a:p>
          <a:p>
            <a:pPr>
              <a:spcBef>
                <a:spcPts val="300"/>
              </a:spcBef>
              <a:defRPr sz="950">
                <a:solidFill>
                  <a:srgbClr val="F8FAFC"/>
                </a:solidFill>
              </a:defRPr>
            </a:pPr>
            <a:r>
              <a:t>• PAY_PER_REQUEST</a:t>
            </a:r>
          </a:p>
          <a:p>
            <a:pPr>
              <a:spcBef>
                <a:spcPts val="300"/>
              </a:spcBef>
              <a:defRPr sz="950">
                <a:solidFill>
                  <a:srgbClr val="F8FAFC"/>
                </a:solidFill>
              </a:defRPr>
            </a:pPr>
            <a:r>
              <a:t>• Attributes: occ, temp,</a:t>
            </a:r>
          </a:p>
          <a:p>
            <a:pPr>
              <a:spcBef>
                <a:spcPts val="300"/>
              </a:spcBef>
              <a:defRPr sz="950">
                <a:solidFill>
                  <a:srgbClr val="F8FAFC"/>
                </a:solidFill>
              </a:defRPr>
            </a:pPr>
            <a:r>
              <a:t>• energy, severity, time</a:t>
            </a:r>
          </a:p>
        </p:txBody>
      </p:sp>
      <p:sp>
        <p:nvSpPr>
          <p:cNvPr id="10" name="Rounded Rectangle 9"/>
          <p:cNvSpPr/>
          <p:nvPr/>
        </p:nvSpPr>
        <p:spPr>
          <a:xfrm>
            <a:off x="731520" y="4663440"/>
            <a:ext cx="10728655" cy="1737360"/>
          </a:xfrm>
          <a:prstGeom prst="roundRect">
            <a:avLst/>
          </a:prstGeom>
          <a:solidFill>
            <a:srgbClr val="18181B"/>
          </a:solidFill>
          <a:ln w="19050">
            <a:solidFill>
              <a:srgbClr val="CA8A0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4400" y="4754880"/>
            <a:ext cx="4114800" cy="292608"/>
          </a:xfrm>
          <a:prstGeom prst="roundRect">
            <a:avLst/>
          </a:prstGeom>
          <a:solidFill>
            <a:srgbClr val="854D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EF9C3"/>
                </a:solidFill>
              </a:defRPr>
            </a:pPr>
            <a:r>
              <a:t>PROPOSED FUTURE ENHANCEMENTS — NOT IMPLEMENTED</a:t>
            </a:r>
          </a:p>
        </p:txBody>
      </p:sp>
      <p:sp>
        <p:nvSpPr>
          <p:cNvPr id="12" name="Rounded Rectangle 11"/>
          <p:cNvSpPr/>
          <p:nvPr/>
        </p:nvSpPr>
        <p:spPr>
          <a:xfrm>
            <a:off x="914400" y="5120640"/>
            <a:ext cx="2468880" cy="1143000"/>
          </a:xfrm>
          <a:prstGeom prst="roundRect">
            <a:avLst/>
          </a:prstGeom>
          <a:solidFill>
            <a:srgbClr val="0F172A"/>
          </a:solidFill>
          <a:ln w="12700">
            <a:solidFill>
              <a:srgbClr val="CA8A04"/>
            </a:solidFill>
          </a:ln>
        </p:spPr>
        <p:style>
          <a:lnRef idx="1">
            <a:schemeClr val="accent1"/>
          </a:lnRef>
          <a:fillRef idx="3">
            <a:schemeClr val="accent1"/>
          </a:fillRef>
          <a:effectRef idx="2">
            <a:schemeClr val="accent1"/>
          </a:effectRef>
          <a:fontRef idx="minor">
            <a:schemeClr val="lt1"/>
          </a:fontRef>
        </p:style>
        <p:txBody>
          <a:bodyPr rtlCol="0" anchor="ctr" wrap="square" tIns="91440" lIns="109728"/>
          <a:lstStyle/>
          <a:p>
            <a:pPr algn="ctr">
              <a:defRPr sz="1050" b="1">
                <a:solidFill>
                  <a:srgbClr val="FACC15"/>
                </a:solidFill>
              </a:defRPr>
            </a:pPr>
            <a:r>
              <a:t>1. Production Identity</a:t>
            </a:r>
          </a:p>
          <a:p>
            <a:pPr>
              <a:defRPr sz="900">
                <a:solidFill>
                  <a:srgbClr val="94A3B8"/>
                </a:solidFill>
              </a:defRPr>
            </a:pPr>
            <a:r>
              <a:t>• Amazon Cognito User Pools</a:t>
            </a:r>
          </a:p>
          <a:p>
            <a:pPr>
              <a:defRPr sz="900">
                <a:solidFill>
                  <a:srgbClr val="94A3B8"/>
                </a:solidFill>
              </a:defRPr>
            </a:pPr>
            <a:r>
              <a:t>• OAuth2 / JWT Authorizers</a:t>
            </a:r>
          </a:p>
        </p:txBody>
      </p:sp>
      <p:sp>
        <p:nvSpPr>
          <p:cNvPr id="13" name="Rounded Rectangle 12"/>
          <p:cNvSpPr/>
          <p:nvPr/>
        </p:nvSpPr>
        <p:spPr>
          <a:xfrm>
            <a:off x="3520440" y="5120640"/>
            <a:ext cx="2468880" cy="1143000"/>
          </a:xfrm>
          <a:prstGeom prst="roundRect">
            <a:avLst/>
          </a:prstGeom>
          <a:solidFill>
            <a:srgbClr val="0F172A"/>
          </a:solidFill>
          <a:ln w="12700">
            <a:solidFill>
              <a:srgbClr val="CA8A04"/>
            </a:solidFill>
          </a:ln>
        </p:spPr>
        <p:style>
          <a:lnRef idx="1">
            <a:schemeClr val="accent1"/>
          </a:lnRef>
          <a:fillRef idx="3">
            <a:schemeClr val="accent1"/>
          </a:fillRef>
          <a:effectRef idx="2">
            <a:schemeClr val="accent1"/>
          </a:effectRef>
          <a:fontRef idx="minor">
            <a:schemeClr val="lt1"/>
          </a:fontRef>
        </p:style>
        <p:txBody>
          <a:bodyPr rtlCol="0" anchor="ctr" wrap="square" tIns="91440" lIns="109728"/>
          <a:lstStyle/>
          <a:p>
            <a:pPr algn="ctr">
              <a:defRPr sz="1050" b="1">
                <a:solidFill>
                  <a:srgbClr val="FACC15"/>
                </a:solidFill>
              </a:defRPr>
            </a:pPr>
            <a:r>
              <a:t>2. Web UI &amp; CDN</a:t>
            </a:r>
          </a:p>
          <a:p>
            <a:pPr>
              <a:defRPr sz="900">
                <a:solidFill>
                  <a:srgbClr val="94A3B8"/>
                </a:solidFill>
              </a:defRPr>
            </a:pPr>
            <a:r>
              <a:t>• React/Next.js Dashboard</a:t>
            </a:r>
          </a:p>
          <a:p>
            <a:pPr>
              <a:defRPr sz="900">
                <a:solidFill>
                  <a:srgbClr val="94A3B8"/>
                </a:solidFill>
              </a:defRPr>
            </a:pPr>
            <a:r>
              <a:t>• Amazon S3 + CloudFront CDN</a:t>
            </a:r>
          </a:p>
        </p:txBody>
      </p:sp>
      <p:sp>
        <p:nvSpPr>
          <p:cNvPr id="14" name="Rounded Rectangle 13"/>
          <p:cNvSpPr/>
          <p:nvPr/>
        </p:nvSpPr>
        <p:spPr>
          <a:xfrm>
            <a:off x="6126480" y="5120640"/>
            <a:ext cx="2468880" cy="1143000"/>
          </a:xfrm>
          <a:prstGeom prst="roundRect">
            <a:avLst/>
          </a:prstGeom>
          <a:solidFill>
            <a:srgbClr val="0F172A"/>
          </a:solidFill>
          <a:ln w="12700">
            <a:solidFill>
              <a:srgbClr val="CA8A04"/>
            </a:solidFill>
          </a:ln>
        </p:spPr>
        <p:style>
          <a:lnRef idx="1">
            <a:schemeClr val="accent1"/>
          </a:lnRef>
          <a:fillRef idx="3">
            <a:schemeClr val="accent1"/>
          </a:fillRef>
          <a:effectRef idx="2">
            <a:schemeClr val="accent1"/>
          </a:effectRef>
          <a:fontRef idx="minor">
            <a:schemeClr val="lt1"/>
          </a:fontRef>
        </p:style>
        <p:txBody>
          <a:bodyPr rtlCol="0" anchor="ctr" wrap="square" tIns="91440" lIns="109728"/>
          <a:lstStyle/>
          <a:p>
            <a:pPr algn="ctr">
              <a:defRPr sz="1050" b="1">
                <a:solidFill>
                  <a:srgbClr val="FACC15"/>
                </a:solidFill>
              </a:defRPr>
            </a:pPr>
            <a:r>
              <a:t>3. VPC &amp; Secrets</a:t>
            </a:r>
          </a:p>
          <a:p>
            <a:pPr>
              <a:defRPr sz="900">
                <a:solidFill>
                  <a:srgbClr val="94A3B8"/>
                </a:solidFill>
              </a:defRPr>
            </a:pPr>
            <a:r>
              <a:t>• Private Subnets &amp; VPC Endpoints</a:t>
            </a:r>
          </a:p>
          <a:p>
            <a:pPr>
              <a:defRPr sz="900">
                <a:solidFill>
                  <a:srgbClr val="94A3B8"/>
                </a:solidFill>
              </a:defRPr>
            </a:pPr>
            <a:r>
              <a:t>• AWS Secrets Manager</a:t>
            </a:r>
          </a:p>
        </p:txBody>
      </p:sp>
      <p:sp>
        <p:nvSpPr>
          <p:cNvPr id="15" name="Rounded Rectangle 14"/>
          <p:cNvSpPr/>
          <p:nvPr/>
        </p:nvSpPr>
        <p:spPr>
          <a:xfrm>
            <a:off x="8732520" y="5120640"/>
            <a:ext cx="2468880" cy="1143000"/>
          </a:xfrm>
          <a:prstGeom prst="roundRect">
            <a:avLst/>
          </a:prstGeom>
          <a:solidFill>
            <a:srgbClr val="0F172A"/>
          </a:solidFill>
          <a:ln w="12700">
            <a:solidFill>
              <a:srgbClr val="CA8A04"/>
            </a:solidFill>
          </a:ln>
        </p:spPr>
        <p:style>
          <a:lnRef idx="1">
            <a:schemeClr val="accent1"/>
          </a:lnRef>
          <a:fillRef idx="3">
            <a:schemeClr val="accent1"/>
          </a:fillRef>
          <a:effectRef idx="2">
            <a:schemeClr val="accent1"/>
          </a:effectRef>
          <a:fontRef idx="minor">
            <a:schemeClr val="lt1"/>
          </a:fontRef>
        </p:style>
        <p:txBody>
          <a:bodyPr rtlCol="0" anchor="ctr" wrap="square" tIns="91440" lIns="109728"/>
          <a:lstStyle/>
          <a:p>
            <a:pPr algn="ctr">
              <a:defRPr sz="1050" b="1">
                <a:solidFill>
                  <a:srgbClr val="FACC15"/>
                </a:solidFill>
              </a:defRPr>
            </a:pPr>
            <a:r>
              <a:t>4. Automated DR &amp; Push</a:t>
            </a:r>
          </a:p>
          <a:p>
            <a:pPr>
              <a:defRPr sz="900">
                <a:solidFill>
                  <a:srgbClr val="94A3B8"/>
                </a:solidFill>
              </a:defRPr>
            </a:pPr>
            <a:r>
              <a:t>• DynamoDB PITR &amp; AWS Backup</a:t>
            </a:r>
          </a:p>
          <a:p>
            <a:pPr>
              <a:defRPr sz="900">
                <a:solidFill>
                  <a:srgbClr val="94A3B8"/>
                </a:solidFill>
              </a:defRPr>
            </a:pPr>
            <a:r>
              <a:t>• CloudWatch Alarms + SNS SMS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defRPr sz="2400" b="1">
                <a:solidFill>
                  <a:srgbClr val="F8FAFC"/>
                </a:solidFill>
              </a:defRPr>
            </a:pPr>
            <a:r>
              <a:t>3. Implementation &amp; API Interface</a:t>
            </a:r>
          </a:p>
          <a:p>
            <a:pPr>
              <a:defRPr sz="1100">
                <a:solidFill>
                  <a:srgbClr val="38BDF8"/>
                </a:solidFill>
              </a:defRPr>
            </a:pPr>
            <a:r>
              <a:t>CampusPulse 2026 | AWS eu-west-3 (Paris)</a:t>
            </a:r>
          </a:p>
        </p:txBody>
      </p:sp>
      <p:sp>
        <p:nvSpPr>
          <p:cNvPr id="4" name="Rounded Rectangle 3"/>
          <p:cNvSpPr/>
          <p:nvPr/>
        </p:nvSpPr>
        <p:spPr>
          <a:xfrm>
            <a:off x="731520" y="1463040"/>
            <a:ext cx="5120640" cy="47548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a:lstStyle/>
          <a:p>
            <a:pPr algn="ctr">
              <a:defRPr sz="1600" b="1">
                <a:solidFill>
                  <a:srgbClr val="38BDF8"/>
                </a:solidFill>
              </a:defRPr>
            </a:pPr>
            <a:r>
              <a:t>Deployed REST Endpoints</a:t>
            </a:r>
          </a:p>
          <a:p>
            <a:pPr>
              <a:spcBef>
                <a:spcPts val="800"/>
              </a:spcBef>
              <a:defRPr sz="1150" b="1">
                <a:solidFill>
                  <a:srgbClr val="4ADE80"/>
                </a:solidFill>
              </a:defRPr>
            </a:pPr>
            <a:r>
              <a:t>GET /health  [Public]</a:t>
            </a:r>
          </a:p>
          <a:p>
            <a:pPr>
              <a:defRPr sz="1050">
                <a:solidFill>
                  <a:srgbClr val="F8FAFC"/>
                </a:solidFill>
              </a:defRPr>
            </a:pPr>
            <a:r>
              <a:t>Service health check (verified ok).</a:t>
            </a:r>
          </a:p>
          <a:p>
            <a:pPr>
              <a:spcBef>
                <a:spcPts val="800"/>
              </a:spcBef>
              <a:defRPr sz="1150" b="1">
                <a:solidFill>
                  <a:srgbClr val="A855F7"/>
                </a:solidFill>
              </a:defRPr>
            </a:pPr>
            <a:r>
              <a:t>POST /login  [Auth]</a:t>
            </a:r>
          </a:p>
          <a:p>
            <a:pPr>
              <a:defRPr sz="1050">
                <a:solidFill>
                  <a:srgbClr val="F8FAFC"/>
                </a:solidFill>
              </a:defRPr>
            </a:pPr>
            <a:r>
              <a:t>Demo role check (Admin/Operator), issues token.</a:t>
            </a:r>
          </a:p>
          <a:p>
            <a:pPr>
              <a:spcBef>
                <a:spcPts val="800"/>
              </a:spcBef>
              <a:defRPr sz="1150" b="1">
                <a:solidFill>
                  <a:srgbClr val="F97316"/>
                </a:solidFill>
              </a:defRPr>
            </a:pPr>
            <a:r>
              <a:t>POST /events  [Admin]</a:t>
            </a:r>
          </a:p>
          <a:p>
            <a:pPr>
              <a:defRPr sz="1050">
                <a:solidFill>
                  <a:srgbClr val="F8FAFC"/>
                </a:solidFill>
              </a:defRPr>
            </a:pPr>
            <a:r>
              <a:t>Validates &amp; writes event record to DynamoDB.</a:t>
            </a:r>
          </a:p>
          <a:p>
            <a:pPr>
              <a:spcBef>
                <a:spcPts val="800"/>
              </a:spcBef>
              <a:defRPr sz="1150" b="1">
                <a:solidFill>
                  <a:srgbClr val="A855F7"/>
                </a:solidFill>
              </a:defRPr>
            </a:pPr>
            <a:r>
              <a:t>GET /events  [Protected]</a:t>
            </a:r>
          </a:p>
          <a:p>
            <a:pPr>
              <a:defRPr sz="1050">
                <a:solidFill>
                  <a:srgbClr val="F8FAFC"/>
                </a:solidFill>
              </a:defRPr>
            </a:pPr>
            <a:r>
              <a:t>Retrieves stored events (supports ?limit=N).</a:t>
            </a:r>
          </a:p>
          <a:p>
            <a:pPr>
              <a:spcBef>
                <a:spcPts val="800"/>
              </a:spcBef>
              <a:defRPr sz="1150" b="1">
                <a:solidFill>
                  <a:srgbClr val="A855F7"/>
                </a:solidFill>
              </a:defRPr>
            </a:pPr>
            <a:r>
              <a:t>GET /stats  [Protected]</a:t>
            </a:r>
          </a:p>
          <a:p>
            <a:pPr>
              <a:defRPr sz="1050">
                <a:solidFill>
                  <a:srgbClr val="F8FAFC"/>
                </a:solidFill>
              </a:defRPr>
            </a:pPr>
            <a:r>
              <a:t>Calculates aggregated campus metrics.</a:t>
            </a:r>
          </a:p>
          <a:p>
            <a:pPr>
              <a:spcBef>
                <a:spcPts val="800"/>
              </a:spcBef>
              <a:defRPr sz="1150" b="1">
                <a:solidFill>
                  <a:srgbClr val="A855F7"/>
                </a:solidFill>
              </a:defRPr>
            </a:pPr>
            <a:r>
              <a:t>GET /alerts  [Protected]</a:t>
            </a:r>
          </a:p>
          <a:p>
            <a:pPr>
              <a:defRPr sz="1050">
                <a:solidFill>
                  <a:srgbClr val="F8FAFC"/>
                </a:solidFill>
              </a:defRPr>
            </a:pPr>
            <a:r>
              <a:t>Filters events flagged as 'alert' severity.</a:t>
            </a:r>
          </a:p>
        </p:txBody>
      </p:sp>
      <p:sp>
        <p:nvSpPr>
          <p:cNvPr id="5" name="Rounded Rectangle 4"/>
          <p:cNvSpPr/>
          <p:nvPr/>
        </p:nvSpPr>
        <p:spPr>
          <a:xfrm>
            <a:off x="6217920" y="1463040"/>
            <a:ext cx="5242255" cy="47548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a:lstStyle/>
          <a:p>
            <a:pPr algn="ctr">
              <a:defRPr sz="1600" b="1">
                <a:solidFill>
                  <a:srgbClr val="F97316"/>
                </a:solidFill>
              </a:defRPr>
            </a:pPr>
            <a:r>
              <a:t>Backend Business Logic (Python 3.12)</a:t>
            </a:r>
          </a:p>
          <a:p>
            <a:pPr>
              <a:spcBef>
                <a:spcPts val="1000"/>
              </a:spcBef>
              <a:defRPr sz="1200" b="1">
                <a:solidFill>
                  <a:srgbClr val="FACC15"/>
                </a:solidFill>
              </a:defRPr>
            </a:pPr>
            <a:r>
              <a:t>Strict Schema Validation</a:t>
            </a:r>
          </a:p>
          <a:p>
            <a:pPr>
              <a:defRPr sz="1050">
                <a:solidFill>
                  <a:srgbClr val="F8FAFC"/>
                </a:solidFill>
              </a:defRPr>
            </a:pPr>
            <a:r>
              <a:t>Rejects missing fields, invalid event types, and negative occupancy/energy values with clear 400 Bad Request messages.</a:t>
            </a:r>
          </a:p>
          <a:p>
            <a:pPr>
              <a:spcBef>
                <a:spcPts val="1000"/>
              </a:spcBef>
              <a:defRPr sz="1200" b="1">
                <a:solidFill>
                  <a:srgbClr val="FACC15"/>
                </a:solidFill>
              </a:defRPr>
            </a:pPr>
            <a:r>
              <a:t>Threshold Alert Engine</a:t>
            </a:r>
          </a:p>
          <a:p>
            <a:pPr>
              <a:defRPr sz="1050">
                <a:solidFill>
                  <a:srgbClr val="F8FAFC"/>
                </a:solidFill>
              </a:defRPr>
            </a:pPr>
            <a:r>
              <a:t>Occupancy &gt; 80 people -&gt; 'alert'</a:t>
            </a:r>
            <a:br/>
            <a:r>
              <a:t>Temperature &lt; 10°C or &gt; 35°C -&gt; 'alert'</a:t>
            </a:r>
            <a:br/>
            <a:r>
              <a:t>Energy &gt; 50 kWh -&gt; 'alert'</a:t>
            </a:r>
          </a:p>
          <a:p>
            <a:pPr>
              <a:spcBef>
                <a:spcPts val="1000"/>
              </a:spcBef>
              <a:defRPr sz="1200" b="1">
                <a:solidFill>
                  <a:srgbClr val="FACC15"/>
                </a:solidFill>
              </a:defRPr>
            </a:pPr>
            <a:r>
              <a:t>Campus Analytics Aggregation</a:t>
            </a:r>
          </a:p>
          <a:p>
            <a:pPr>
              <a:defRPr sz="1050">
                <a:solidFill>
                  <a:srgbClr val="F8FAFC"/>
                </a:solidFill>
              </a:defRPr>
            </a:pPr>
            <a:r>
              <a:t>Tracks the latest reading per room (building + room key), summing active occupancy across all spaces, plus energy totals and alert counts.</a:t>
            </a:r>
          </a:p>
          <a:p>
            <a:pPr>
              <a:spcBef>
                <a:spcPts val="1000"/>
              </a:spcBef>
              <a:defRPr sz="1200" b="1">
                <a:solidFill>
                  <a:srgbClr val="FACC15"/>
                </a:solidFill>
              </a:defRPr>
            </a:pPr>
            <a:r>
              <a:t>Infrastructure as Code (AWS SAM)</a:t>
            </a:r>
          </a:p>
          <a:p>
            <a:pPr>
              <a:defRPr sz="1050">
                <a:solidFill>
                  <a:srgbClr val="F8FAFC"/>
                </a:solidFill>
              </a:defRPr>
            </a:pPr>
            <a:r>
              <a:t>Declarative template.yaml defining API Gateway, Lambda function, DynamoDB table, and IAM policies.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defRPr sz="2400" b="1">
                <a:solidFill>
                  <a:srgbClr val="F8FAFC"/>
                </a:solidFill>
              </a:defRPr>
            </a:pPr>
            <a:r>
              <a:t>4. Security Architecture &amp; Boundary Analysis</a:t>
            </a:r>
          </a:p>
          <a:p>
            <a:pPr>
              <a:defRPr sz="1100">
                <a:solidFill>
                  <a:srgbClr val="38BDF8"/>
                </a:solidFill>
              </a:defRPr>
            </a:pPr>
            <a:r>
              <a:t>CampusPulse 2026 | AWS eu-west-3 (Paris)</a:t>
            </a:r>
          </a:p>
        </p:txBody>
      </p:sp>
      <p:sp>
        <p:nvSpPr>
          <p:cNvPr id="4" name="Rounded Rectangle 3"/>
          <p:cNvSpPr/>
          <p:nvPr/>
        </p:nvSpPr>
        <p:spPr>
          <a:xfrm>
            <a:off x="731520" y="1463040"/>
            <a:ext cx="3328416" cy="47548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a:lstStyle/>
          <a:p>
            <a:pPr algn="ctr">
              <a:defRPr sz="1600" b="1">
                <a:solidFill>
                  <a:srgbClr val="38BDF8"/>
                </a:solidFill>
              </a:defRPr>
            </a:pPr>
            <a:r>
              <a:t>Authentication Model</a:t>
            </a:r>
          </a:p>
          <a:p>
            <a:pPr>
              <a:spcBef>
                <a:spcPts val="1000"/>
              </a:spcBef>
              <a:defRPr sz="1150">
                <a:solidFill>
                  <a:srgbClr val="F8FAFC"/>
                </a:solidFill>
              </a:defRPr>
            </a:pPr>
            <a:r>
              <a:t>• Demo role authentication: Admin and Operator roles.</a:t>
            </a:r>
          </a:p>
          <a:p>
            <a:pPr>
              <a:spcBef>
                <a:spcPts val="1000"/>
              </a:spcBef>
              <a:defRPr sz="1150">
                <a:solidFill>
                  <a:srgbClr val="F8FAFC"/>
                </a:solidFill>
              </a:defRPr>
            </a:pPr>
            <a:r>
              <a:t>• POST /login authenticates against configured deployment credentials and issues a session Bearer token.</a:t>
            </a:r>
          </a:p>
          <a:p>
            <a:pPr>
              <a:spcBef>
                <a:spcPts val="1000"/>
              </a:spcBef>
              <a:defRPr sz="1150">
                <a:solidFill>
                  <a:srgbClr val="F8FAFC"/>
                </a:solidFill>
              </a:defRPr>
            </a:pPr>
            <a:r>
              <a:t>• Bearer token verification required for all non-health routes.</a:t>
            </a:r>
          </a:p>
          <a:p>
            <a:pPr>
              <a:spcBef>
                <a:spcPts val="1000"/>
              </a:spcBef>
              <a:defRPr sz="1150">
                <a:solidFill>
                  <a:srgbClr val="F8FAFC"/>
                </a:solidFill>
              </a:defRPr>
            </a:pPr>
            <a:r>
              <a:t>• Admin can submit events; Operator can inspect events, stats, and alerts.</a:t>
            </a:r>
          </a:p>
        </p:txBody>
      </p:sp>
      <p:sp>
        <p:nvSpPr>
          <p:cNvPr id="5" name="Rounded Rectangle 4"/>
          <p:cNvSpPr/>
          <p:nvPr/>
        </p:nvSpPr>
        <p:spPr>
          <a:xfrm>
            <a:off x="4407408" y="1463040"/>
            <a:ext cx="3328416" cy="47548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a:lstStyle/>
          <a:p>
            <a:pPr algn="ctr">
              <a:defRPr sz="1600" b="1">
                <a:solidFill>
                  <a:srgbClr val="4ADE80"/>
                </a:solidFill>
              </a:defRPr>
            </a:pPr>
            <a:r>
              <a:t>Cloud Infrastructure IAM</a:t>
            </a:r>
          </a:p>
          <a:p>
            <a:pPr>
              <a:spcBef>
                <a:spcPts val="1000"/>
              </a:spcBef>
              <a:defRPr sz="1150">
                <a:solidFill>
                  <a:srgbClr val="F8FAFC"/>
                </a:solidFill>
              </a:defRPr>
            </a:pPr>
            <a:r>
              <a:t>• Lambda execution role follows least privilege.</a:t>
            </a:r>
          </a:p>
          <a:p>
            <a:pPr>
              <a:spcBef>
                <a:spcPts val="1000"/>
              </a:spcBef>
              <a:defRPr sz="1150">
                <a:solidFill>
                  <a:srgbClr val="F8FAFC"/>
                </a:solidFill>
              </a:defRPr>
            </a:pPr>
            <a:r>
              <a:t>• AWSLambdaBasicExecutionRole grants write access strictly to CloudWatch Logs.</a:t>
            </a:r>
          </a:p>
          <a:p>
            <a:pPr>
              <a:spcBef>
                <a:spcPts val="1000"/>
              </a:spcBef>
              <a:defRPr sz="1150">
                <a:solidFill>
                  <a:srgbClr val="F8FAFC"/>
                </a:solidFill>
              </a:defRPr>
            </a:pPr>
            <a:r>
              <a:t>• DynamoDBCrudPolicy scopes database operations exclusively to the CampusPulseEvents table ARN.</a:t>
            </a:r>
          </a:p>
          <a:p>
            <a:pPr>
              <a:spcBef>
                <a:spcPts val="1000"/>
              </a:spcBef>
              <a:defRPr sz="1150">
                <a:solidFill>
                  <a:srgbClr val="F8FAFC"/>
                </a:solidFill>
              </a:defRPr>
            </a:pPr>
            <a:r>
              <a:t>• No wildcard administrative permissions attached to runtime identity.</a:t>
            </a:r>
          </a:p>
        </p:txBody>
      </p:sp>
      <p:sp>
        <p:nvSpPr>
          <p:cNvPr id="6" name="Rounded Rectangle 5"/>
          <p:cNvSpPr/>
          <p:nvPr/>
        </p:nvSpPr>
        <p:spPr>
          <a:xfrm>
            <a:off x="8083296" y="1463040"/>
            <a:ext cx="3328416" cy="47548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a:lstStyle/>
          <a:p>
            <a:pPr algn="ctr">
              <a:defRPr sz="1600" b="1">
                <a:solidFill>
                  <a:srgbClr val="F97316"/>
                </a:solidFill>
              </a:defRPr>
            </a:pPr>
            <a:r>
              <a:t>Honest Security Limits</a:t>
            </a:r>
          </a:p>
          <a:p>
            <a:pPr>
              <a:spcBef>
                <a:spcPts val="1000"/>
              </a:spcBef>
              <a:defRPr sz="1150">
                <a:solidFill>
                  <a:srgbClr val="F8FAFC"/>
                </a:solidFill>
              </a:defRPr>
            </a:pPr>
            <a:r>
              <a:t>• Classroom prototype scope: Built-in credentials demonstrate concept, not enterprise identity.</a:t>
            </a:r>
          </a:p>
          <a:p>
            <a:pPr>
              <a:spcBef>
                <a:spcPts val="1000"/>
              </a:spcBef>
              <a:defRPr sz="1150">
                <a:solidFill>
                  <a:srgbClr val="F8FAFC"/>
                </a:solidFill>
              </a:defRPr>
            </a:pPr>
            <a:r>
              <a:t>• No production Identity Provider (IdP) like Amazon Cognito yet integrated.</a:t>
            </a:r>
          </a:p>
          <a:p>
            <a:pPr>
              <a:spcBef>
                <a:spcPts val="1000"/>
              </a:spcBef>
              <a:defRPr sz="1150">
                <a:solidFill>
                  <a:srgbClr val="F8FAFC"/>
                </a:solidFill>
              </a:defRPr>
            </a:pPr>
            <a:r>
              <a:t>• No custom VPC / security group network isolation; API Gateway operates on public regional endpoint.</a:t>
            </a:r>
          </a:p>
          <a:p>
            <a:pPr>
              <a:spcBef>
                <a:spcPts val="1000"/>
              </a:spcBef>
              <a:defRPr sz="1150">
                <a:solidFill>
                  <a:srgbClr val="F8FAFC"/>
                </a:solidFill>
              </a:defRPr>
            </a:pPr>
            <a:r>
              <a:t>• Secrets managed via SAM environment variables rather than AWS Secrets Manager.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defRPr sz="2400" b="1">
                <a:solidFill>
                  <a:srgbClr val="F8FAFC"/>
                </a:solidFill>
              </a:defRPr>
            </a:pPr>
            <a:r>
              <a:t>5. Verification &amp; Empirical Test Evidence</a:t>
            </a:r>
          </a:p>
          <a:p>
            <a:pPr>
              <a:defRPr sz="1100">
                <a:solidFill>
                  <a:srgbClr val="38BDF8"/>
                </a:solidFill>
              </a:defRPr>
            </a:pPr>
            <a:r>
              <a:t>CampusPulse 2026 | AWS eu-west-3 (Paris)</a:t>
            </a:r>
          </a:p>
        </p:txBody>
      </p:sp>
      <p:sp>
        <p:nvSpPr>
          <p:cNvPr id="4" name="Rounded Rectangle 3"/>
          <p:cNvSpPr/>
          <p:nvPr/>
        </p:nvSpPr>
        <p:spPr>
          <a:xfrm>
            <a:off x="731520" y="1463040"/>
            <a:ext cx="3328416" cy="47548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28600" lIns="228600"/>
          <a:lstStyle/>
          <a:p>
            <a:pPr algn="ctr">
              <a:defRPr sz="1500" b="1">
                <a:solidFill>
                  <a:srgbClr val="4ADE80"/>
                </a:solidFill>
              </a:defRPr>
            </a:pPr>
            <a:r>
              <a:t>Automated Unit Tests</a:t>
            </a:r>
          </a:p>
          <a:p>
            <a:pPr>
              <a:spcBef>
                <a:spcPts val="600"/>
              </a:spcBef>
              <a:defRPr sz="1100">
                <a:solidFill>
                  <a:srgbClr val="F8FAFC"/>
                </a:solidFill>
              </a:defRPr>
            </a:pPr>
            <a:r>
              <a:t>6 automated unit tests executed via Python unittest:</a:t>
            </a:r>
          </a:p>
          <a:p>
            <a:pPr>
              <a:spcBef>
                <a:spcPts val="600"/>
              </a:spcBef>
              <a:defRPr sz="1100">
                <a:solidFill>
                  <a:srgbClr val="4ADE80"/>
                </a:solidFill>
              </a:defRPr>
            </a:pPr>
            <a:r>
              <a:t>✓ test_valid_occupancy: Proper schema &amp; normal severity</a:t>
            </a:r>
          </a:p>
          <a:p>
            <a:pPr>
              <a:spcBef>
                <a:spcPts val="600"/>
              </a:spcBef>
              <a:defRPr sz="1100">
                <a:solidFill>
                  <a:srgbClr val="4ADE80"/>
                </a:solidFill>
              </a:defRPr>
            </a:pPr>
            <a:r>
              <a:t>✓ test_high_occupancy_alert: &gt; 80 flagged as alert</a:t>
            </a:r>
          </a:p>
          <a:p>
            <a:pPr>
              <a:spcBef>
                <a:spcPts val="600"/>
              </a:spcBef>
              <a:defRPr sz="1100">
                <a:solidFill>
                  <a:srgbClr val="4ADE80"/>
                </a:solidFill>
              </a:defRPr>
            </a:pPr>
            <a:r>
              <a:t>✓ test_missing_field_rejected: 400 Bad Request</a:t>
            </a:r>
          </a:p>
          <a:p>
            <a:pPr>
              <a:spcBef>
                <a:spcPts val="600"/>
              </a:spcBef>
              <a:defRPr sz="1100">
                <a:solidFill>
                  <a:srgbClr val="4ADE80"/>
                </a:solidFill>
              </a:defRPr>
            </a:pPr>
            <a:r>
              <a:t>✓ test_invalid_type_rejected: Unknown types blocked</a:t>
            </a:r>
          </a:p>
          <a:p>
            <a:pPr>
              <a:spcBef>
                <a:spcPts val="600"/>
              </a:spcBef>
              <a:defRPr sz="1100">
                <a:solidFill>
                  <a:srgbClr val="4ADE80"/>
                </a:solidFill>
              </a:defRPr>
            </a:pPr>
            <a:r>
              <a:t>✓ test_negative_occupancy_rejected: Bounds check</a:t>
            </a:r>
          </a:p>
          <a:p>
            <a:pPr>
              <a:spcBef>
                <a:spcPts val="600"/>
              </a:spcBef>
              <a:defRPr sz="1100">
                <a:solidFill>
                  <a:srgbClr val="4ADE80"/>
                </a:solidFill>
              </a:defRPr>
            </a:pPr>
            <a:r>
              <a:t>✓ test_stats_uses_latest_occupancy_per_room</a:t>
            </a:r>
          </a:p>
          <a:p>
            <a:pPr>
              <a:spcBef>
                <a:spcPts val="600"/>
              </a:spcBef>
              <a:defRPr sz="1100">
                <a:solidFill>
                  <a:srgbClr val="F8FAFC"/>
                </a:solidFill>
              </a:defRPr>
            </a:pPr>
            <a:r>
              <a:t>Result: Ran 6 tests in 0.001s, status: OK.</a:t>
            </a:r>
          </a:p>
        </p:txBody>
      </p:sp>
      <p:sp>
        <p:nvSpPr>
          <p:cNvPr id="5" name="Rounded Rectangle 4"/>
          <p:cNvSpPr/>
          <p:nvPr/>
        </p:nvSpPr>
        <p:spPr>
          <a:xfrm>
            <a:off x="4407408" y="1463040"/>
            <a:ext cx="3328416" cy="47548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28600" lIns="228600"/>
          <a:lstStyle/>
          <a:p>
            <a:pPr algn="ctr">
              <a:defRPr sz="1500" b="1">
                <a:solidFill>
                  <a:srgbClr val="38BDF8"/>
                </a:solidFill>
              </a:defRPr>
            </a:pPr>
            <a:r>
              <a:t>Live Ingestion &amp; Storage</a:t>
            </a:r>
          </a:p>
          <a:p>
            <a:pPr>
              <a:spcBef>
                <a:spcPts val="600"/>
              </a:spcBef>
              <a:defRPr sz="1100">
                <a:solidFill>
                  <a:srgbClr val="F8FAFC"/>
                </a:solidFill>
              </a:defRPr>
            </a:pPr>
            <a:r>
              <a:t>Ingested 4 simulated readings via generate_events.py:</a:t>
            </a:r>
          </a:p>
          <a:p>
            <a:pPr>
              <a:spcBef>
                <a:spcPts val="600"/>
              </a:spcBef>
              <a:defRPr sz="1100">
                <a:solidFill>
                  <a:srgbClr val="F8FAFC"/>
                </a:solidFill>
              </a:defRPr>
            </a:pPr>
            <a:r>
              <a:t>1. Library-A A203 (Occ: 42) -&gt; HTTP 201 [Normal]</a:t>
            </a:r>
          </a:p>
          <a:p>
            <a:pPr>
              <a:spcBef>
                <a:spcPts val="600"/>
              </a:spcBef>
              <a:defRPr sz="1100">
                <a:solidFill>
                  <a:srgbClr val="F8FAFC"/>
                </a:solidFill>
              </a:defRPr>
            </a:pPr>
            <a:r>
              <a:t>2. Engineering Lab-02 (Energy: 18.5) -&gt; HTTP 201 [Normal]</a:t>
            </a:r>
          </a:p>
          <a:p>
            <a:pPr>
              <a:spcBef>
                <a:spcPts val="600"/>
              </a:spcBef>
              <a:defRPr sz="1100">
                <a:solidFill>
                  <a:srgbClr val="F8FAFC"/>
                </a:solidFill>
              </a:defRPr>
            </a:pPr>
            <a:r>
              <a:t>3. Library-A A203 (Occ: 95) -&gt; HTTP 201 [Alert]</a:t>
            </a:r>
          </a:p>
          <a:p>
            <a:pPr>
              <a:spcBef>
                <a:spcPts val="600"/>
              </a:spcBef>
              <a:defRPr sz="1100">
                <a:solidFill>
                  <a:srgbClr val="F8FAFC"/>
                </a:solidFill>
              </a:defRPr>
            </a:pPr>
            <a:r>
              <a:t>4. Engineering Lab-02 (Temp: 38°C) -&gt; HTTP 201 [Alert]</a:t>
            </a:r>
          </a:p>
          <a:p>
            <a:pPr>
              <a:spcBef>
                <a:spcPts val="600"/>
              </a:spcBef>
              <a:defRPr sz="1100">
                <a:solidFill>
                  <a:srgbClr val="F8FAFC"/>
                </a:solidFill>
              </a:defRPr>
            </a:pPr>
            <a:r>
              <a:t>+ 1 pre-existing baseline event (Building A Room 101, Occ: 85).</a:t>
            </a:r>
          </a:p>
          <a:p>
            <a:pPr>
              <a:spcBef>
                <a:spcPts val="600"/>
              </a:spcBef>
              <a:defRPr sz="1100">
                <a:solidFill>
                  <a:srgbClr val="F8FAFC"/>
                </a:solidFill>
              </a:defRPr>
            </a:pPr>
            <a:r>
              <a:t>Verified 5 total persistent records in DynamoDB.</a:t>
            </a:r>
          </a:p>
        </p:txBody>
      </p:sp>
      <p:sp>
        <p:nvSpPr>
          <p:cNvPr id="6" name="Rounded Rectangle 5"/>
          <p:cNvSpPr/>
          <p:nvPr/>
        </p:nvSpPr>
        <p:spPr>
          <a:xfrm>
            <a:off x="8083296" y="1463040"/>
            <a:ext cx="3328416" cy="47548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28600" lIns="228600"/>
          <a:lstStyle/>
          <a:p>
            <a:pPr algn="ctr">
              <a:defRPr sz="1500" b="1">
                <a:solidFill>
                  <a:srgbClr val="A855F7"/>
                </a:solidFill>
              </a:defRPr>
            </a:pPr>
            <a:r>
              <a:t>Analytics &amp; 180 Occ Verified</a:t>
            </a:r>
          </a:p>
          <a:p>
            <a:pPr>
              <a:spcBef>
                <a:spcPts val="600"/>
              </a:spcBef>
              <a:defRPr sz="1100">
                <a:solidFill>
                  <a:srgbClr val="F8FAFC"/>
                </a:solidFill>
              </a:defRPr>
            </a:pPr>
            <a:r>
              <a:t>/stats response verified against DynamoDB items:</a:t>
            </a:r>
          </a:p>
          <a:p>
            <a:pPr>
              <a:spcBef>
                <a:spcPts val="600"/>
              </a:spcBef>
              <a:defRPr sz="1100">
                <a:solidFill>
                  <a:srgbClr val="F8FAFC"/>
                </a:solidFill>
              </a:defRPr>
            </a:pPr>
            <a:r>
              <a:t>• Total events: 5</a:t>
            </a:r>
          </a:p>
          <a:p>
            <a:pPr>
              <a:spcBef>
                <a:spcPts val="600"/>
              </a:spcBef>
              <a:defRPr sz="1100">
                <a:solidFill>
                  <a:srgbClr val="F8FAFC"/>
                </a:solidFill>
              </a:defRPr>
            </a:pPr>
            <a:r>
              <a:t>• Latest occupancy returned: 180 people</a:t>
            </a:r>
          </a:p>
          <a:p>
            <a:pPr>
              <a:spcBef>
                <a:spcPts val="600"/>
              </a:spcBef>
              <a:defRPr sz="1100">
                <a:solidFill>
                  <a:srgbClr val="F8FAFC"/>
                </a:solidFill>
              </a:defRPr>
            </a:pPr>
            <a:r>
              <a:t>• Energy readings count: 1 (18.5 kWh)</a:t>
            </a:r>
          </a:p>
          <a:p>
            <a:pPr>
              <a:spcBef>
                <a:spcPts val="600"/>
              </a:spcBef>
              <a:defRPr sz="1100">
                <a:solidFill>
                  <a:srgbClr val="F8FAFC"/>
                </a:solidFill>
              </a:defRPr>
            </a:pPr>
            <a:r>
              <a:t>• Alert count: 3 (95 occ, 38°C temp, 85 occ)</a:t>
            </a:r>
          </a:p>
          <a:p>
            <a:pPr>
              <a:spcBef>
                <a:spcPts val="600"/>
              </a:spcBef>
              <a:defRPr sz="1100">
                <a:solidFill>
                  <a:srgbClr val="F8FAFC"/>
                </a:solidFill>
              </a:defRPr>
            </a:pPr>
            <a:r>
              <a:t>Occupancy 180 Math Verified:</a:t>
            </a:r>
          </a:p>
          <a:p>
            <a:pPr>
              <a:spcBef>
                <a:spcPts val="600"/>
              </a:spcBef>
              <a:defRPr sz="1100">
                <a:solidFill>
                  <a:srgbClr val="F8FAFC"/>
                </a:solidFill>
              </a:defRPr>
            </a:pPr>
            <a:r>
              <a:t>Space 1 (Library-A A203): latest = 95</a:t>
            </a:r>
          </a:p>
          <a:p>
            <a:pPr>
              <a:spcBef>
                <a:spcPts val="600"/>
              </a:spcBef>
              <a:defRPr sz="1100">
                <a:solidFill>
                  <a:srgbClr val="F8FAFC"/>
                </a:solidFill>
              </a:defRPr>
            </a:pPr>
            <a:r>
              <a:t>Space 2 (Building A Room 101): latest = 85</a:t>
            </a:r>
          </a:p>
          <a:p>
            <a:pPr>
              <a:spcBef>
                <a:spcPts val="600"/>
              </a:spcBef>
              <a:defRPr sz="1100">
                <a:solidFill>
                  <a:srgbClr val="F8FAFC"/>
                </a:solidFill>
              </a:defRPr>
            </a:pPr>
            <a:r>
              <a:t>Campus total sum across rooms: 95 + 85 = 180!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defRPr sz="2400" b="1">
                <a:solidFill>
                  <a:srgbClr val="F8FAFC"/>
                </a:solidFill>
              </a:defRPr>
            </a:pPr>
            <a:r>
              <a:t>6. Cloud Cost Analysis &amp; Scalability Governance</a:t>
            </a:r>
          </a:p>
          <a:p>
            <a:pPr>
              <a:defRPr sz="1100">
                <a:solidFill>
                  <a:srgbClr val="38BDF8"/>
                </a:solidFill>
              </a:defRPr>
            </a:pPr>
            <a:r>
              <a:t>CampusPulse 2026 | AWS eu-west-3 (Paris)</a:t>
            </a:r>
          </a:p>
        </p:txBody>
      </p:sp>
      <p:sp>
        <p:nvSpPr>
          <p:cNvPr id="4" name="Rounded Rectangle 3"/>
          <p:cNvSpPr/>
          <p:nvPr/>
        </p:nvSpPr>
        <p:spPr>
          <a:xfrm>
            <a:off x="731520" y="1463040"/>
            <a:ext cx="5120640" cy="47548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a:lstStyle/>
          <a:p>
            <a:pPr algn="ctr">
              <a:defRPr sz="1600" b="1">
                <a:solidFill>
                  <a:srgbClr val="FACC15"/>
                </a:solidFill>
              </a:defRPr>
            </a:pPr>
            <a:r>
              <a:t>Cost Optimization &amp; Free Tier Breakdown</a:t>
            </a:r>
          </a:p>
          <a:p>
            <a:pPr>
              <a:spcBef>
                <a:spcPts val="800"/>
              </a:spcBef>
              <a:defRPr sz="1150" b="1">
                <a:solidFill>
                  <a:srgbClr val="4ADE80"/>
                </a:solidFill>
              </a:defRPr>
            </a:pPr>
            <a:r>
              <a:t>Amazon API Gateway (REST)</a:t>
            </a:r>
          </a:p>
          <a:p>
            <a:pPr>
              <a:defRPr sz="1050">
                <a:solidFill>
                  <a:srgbClr val="F8FAFC"/>
                </a:solidFill>
              </a:defRPr>
            </a:pPr>
            <a:r>
              <a:t>$3.50 per million calls. For demonstration &amp; testing (~100 calls): $0.00035.</a:t>
            </a:r>
          </a:p>
          <a:p>
            <a:pPr>
              <a:spcBef>
                <a:spcPts val="800"/>
              </a:spcBef>
              <a:defRPr sz="1150" b="1">
                <a:solidFill>
                  <a:srgbClr val="4ADE80"/>
                </a:solidFill>
              </a:defRPr>
            </a:pPr>
            <a:r>
              <a:t>AWS Lambda (Serverless Compute)</a:t>
            </a:r>
          </a:p>
          <a:p>
            <a:pPr>
              <a:defRPr sz="1050">
                <a:solidFill>
                  <a:srgbClr val="F8FAFC"/>
                </a:solidFill>
              </a:defRPr>
            </a:pPr>
            <a:r>
              <a:t>Free Tier includes 1M requests &amp; 3.2M sec compute/month. Our 256MB execution (~50ms duration) incurred $0.00.</a:t>
            </a:r>
          </a:p>
          <a:p>
            <a:pPr>
              <a:spcBef>
                <a:spcPts val="800"/>
              </a:spcBef>
              <a:defRPr sz="1150" b="1">
                <a:solidFill>
                  <a:srgbClr val="4ADE80"/>
                </a:solidFill>
              </a:defRPr>
            </a:pPr>
            <a:r>
              <a:t>Amazon DynamoDB (On-Demand)</a:t>
            </a:r>
          </a:p>
          <a:p>
            <a:pPr>
              <a:defRPr sz="1050">
                <a:solidFill>
                  <a:srgbClr val="F8FAFC"/>
                </a:solidFill>
              </a:defRPr>
            </a:pPr>
            <a:r>
              <a:t>Free Tier provides 25GB storage. Pay-per-request is $1.25/million writes. Prototype storage &amp; reads incurred $0.00.</a:t>
            </a:r>
          </a:p>
          <a:p>
            <a:pPr>
              <a:spcBef>
                <a:spcPts val="800"/>
              </a:spcBef>
              <a:defRPr sz="1150" b="1">
                <a:solidFill>
                  <a:srgbClr val="4ADE80"/>
                </a:solidFill>
              </a:defRPr>
            </a:pPr>
            <a:r>
              <a:t>Amazon CloudWatch Logs</a:t>
            </a:r>
          </a:p>
          <a:p>
            <a:pPr>
              <a:defRPr sz="1050">
                <a:solidFill>
                  <a:srgbClr val="F8FAFC"/>
                </a:solidFill>
              </a:defRPr>
            </a:pPr>
            <a:r>
              <a:t>Free Tier includes 5GB log ingestion/month. Total logging volume was under 5 MB ($0.00).</a:t>
            </a:r>
          </a:p>
          <a:p>
            <a:pPr>
              <a:spcBef>
                <a:spcPts val="800"/>
              </a:spcBef>
              <a:defRPr sz="1150" b="1">
                <a:solidFill>
                  <a:srgbClr val="4ADE80"/>
                </a:solidFill>
              </a:defRPr>
            </a:pPr>
            <a:r>
              <a:t>Active Cost Control</a:t>
            </a:r>
          </a:p>
          <a:p>
            <a:pPr>
              <a:defRPr sz="1050">
                <a:solidFill>
                  <a:srgbClr val="F8FAFC"/>
                </a:solidFill>
              </a:defRPr>
            </a:pPr>
            <a:r>
              <a:t>Configured AWS Budget Alert to prevent billing surprises; zero running EC2/NAT instance idle charges.</a:t>
            </a:r>
          </a:p>
        </p:txBody>
      </p:sp>
      <p:sp>
        <p:nvSpPr>
          <p:cNvPr id="5" name="Rounded Rectangle 4"/>
          <p:cNvSpPr/>
          <p:nvPr/>
        </p:nvSpPr>
        <p:spPr>
          <a:xfrm>
            <a:off x="6217920" y="1463040"/>
            <a:ext cx="5242255" cy="47548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a:lstStyle/>
          <a:p>
            <a:pPr algn="ctr">
              <a:defRPr sz="1600" b="1">
                <a:solidFill>
                  <a:srgbClr val="38BDF8"/>
                </a:solidFill>
              </a:defRPr>
            </a:pPr>
            <a:r>
              <a:t>Scalability Dynamics &amp; Scaling Limits</a:t>
            </a:r>
          </a:p>
          <a:p>
            <a:pPr>
              <a:spcBef>
                <a:spcPts val="800"/>
              </a:spcBef>
              <a:defRPr sz="1150" b="1">
                <a:solidFill>
                  <a:srgbClr val="F97316"/>
                </a:solidFill>
              </a:defRPr>
            </a:pPr>
            <a:r>
              <a:t>Serverless Auto-Scaling</a:t>
            </a:r>
          </a:p>
          <a:p>
            <a:pPr>
              <a:defRPr sz="1050">
                <a:solidFill>
                  <a:srgbClr val="F8FAFC"/>
                </a:solidFill>
              </a:defRPr>
            </a:pPr>
            <a:r>
              <a:t>Lambda automatically provisions concurrent execution environments based on incoming HTTP request volume up to regional account concurrency.</a:t>
            </a:r>
          </a:p>
          <a:p>
            <a:pPr>
              <a:spcBef>
                <a:spcPts val="800"/>
              </a:spcBef>
              <a:defRPr sz="1150" b="1">
                <a:solidFill>
                  <a:srgbClr val="F97316"/>
                </a:solidFill>
              </a:defRPr>
            </a:pPr>
            <a:r>
              <a:t>DynamoDB On-Demand Mode</a:t>
            </a:r>
          </a:p>
          <a:p>
            <a:pPr>
              <a:defRPr sz="1050">
                <a:solidFill>
                  <a:srgbClr val="F8FAFC"/>
                </a:solidFill>
              </a:defRPr>
            </a:pPr>
            <a:r>
              <a:t>PAY_PER_REQUEST billing accommodates unpredictable bursty sensor traffic without manual capacity planning or throttling.</a:t>
            </a:r>
          </a:p>
          <a:p>
            <a:pPr>
              <a:spcBef>
                <a:spcPts val="800"/>
              </a:spcBef>
              <a:defRPr sz="1150" b="1">
                <a:solidFill>
                  <a:srgbClr val="F97316"/>
                </a:solidFill>
              </a:defRPr>
            </a:pPr>
            <a:r>
              <a:t>Current Bottleneck: Table Scan</a:t>
            </a:r>
          </a:p>
          <a:p>
            <a:pPr>
              <a:defRPr sz="1050">
                <a:solidFill>
                  <a:srgbClr val="F8FAFC"/>
                </a:solidFill>
              </a:defRPr>
            </a:pPr>
            <a:r>
              <a:t>Backend currently uses table.scan() to aggregate statistics. While completely fine for &lt;1,000 demo events, high production volumes would cause latency and cost spikes.</a:t>
            </a:r>
          </a:p>
          <a:p>
            <a:pPr>
              <a:spcBef>
                <a:spcPts val="800"/>
              </a:spcBef>
              <a:defRPr sz="1150" b="1">
                <a:solidFill>
                  <a:srgbClr val="F97316"/>
                </a:solidFill>
              </a:defRPr>
            </a:pPr>
            <a:r>
              <a:t>Scaling Path to Production</a:t>
            </a:r>
          </a:p>
          <a:p>
            <a:pPr>
              <a:defRPr sz="1050">
                <a:solidFill>
                  <a:srgbClr val="F8FAFC"/>
                </a:solidFill>
              </a:defRPr>
            </a:pPr>
            <a:r>
              <a:t>Implement DynamoDB Global Secondary Indexes (GSIs) by room and timestamp, DynamoDB Streams for real-time aggregation, and client-side pagination.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defRPr sz="2400" b="1">
                <a:solidFill>
                  <a:srgbClr val="F8FAFC"/>
                </a:solidFill>
              </a:defRPr>
            </a:pPr>
            <a:r>
              <a:t>7. Production Roadmap — Proposed Future Enhancements</a:t>
            </a:r>
          </a:p>
          <a:p>
            <a:pPr>
              <a:defRPr sz="1100">
                <a:solidFill>
                  <a:srgbClr val="38BDF8"/>
                </a:solidFill>
              </a:defRPr>
            </a:pPr>
            <a:r>
              <a:t>Clearly Distinguished from Current Implemented Deliverables</a:t>
            </a:r>
          </a:p>
        </p:txBody>
      </p:sp>
      <p:sp>
        <p:nvSpPr>
          <p:cNvPr id="4" name="Rounded Rectangle 3"/>
          <p:cNvSpPr/>
          <p:nvPr/>
        </p:nvSpPr>
        <p:spPr>
          <a:xfrm>
            <a:off x="731520" y="1463040"/>
            <a:ext cx="5242255" cy="2286000"/>
          </a:xfrm>
          <a:prstGeom prst="roundRect">
            <a:avLst/>
          </a:prstGeom>
          <a:solidFill>
            <a:srgbClr val="18181B"/>
          </a:solidFill>
          <a:ln w="19050">
            <a:solidFill>
              <a:srgbClr val="CA8A04"/>
            </a:solidFill>
          </a:ln>
        </p:spPr>
        <p:style>
          <a:lnRef idx="1">
            <a:schemeClr val="accent1"/>
          </a:lnRef>
          <a:fillRef idx="3">
            <a:schemeClr val="accent1"/>
          </a:fillRef>
          <a:effectRef idx="2">
            <a:schemeClr val="accent1"/>
          </a:effectRef>
          <a:fontRef idx="minor">
            <a:schemeClr val="lt1"/>
          </a:fontRef>
        </p:style>
        <p:txBody>
          <a:bodyPr rtlCol="0" anchor="ctr" wrap="square" tIns="164592" lIns="228600"/>
          <a:lstStyle/>
          <a:p>
            <a:pPr algn="ctr">
              <a:defRPr sz="1300" b="1">
                <a:solidFill>
                  <a:srgbClr val="FACC15"/>
                </a:solidFill>
              </a:defRPr>
            </a:pPr>
            <a:r>
              <a:t>1. Production Identity (Amazon Cognito)</a:t>
            </a:r>
          </a:p>
          <a:p>
            <a:pPr>
              <a:spcBef>
                <a:spcPts val="300"/>
              </a:spcBef>
              <a:defRPr sz="1000">
                <a:solidFill>
                  <a:srgbClr val="F8FAFC"/>
                </a:solidFill>
              </a:defRPr>
            </a:pPr>
            <a:r>
              <a:t>• Cognito User Pools with JWT verification.</a:t>
            </a:r>
          </a:p>
          <a:p>
            <a:pPr>
              <a:spcBef>
                <a:spcPts val="300"/>
              </a:spcBef>
              <a:defRPr sz="1000">
                <a:solidFill>
                  <a:srgbClr val="F8FAFC"/>
                </a:solidFill>
              </a:defRPr>
            </a:pPr>
            <a:r>
              <a:t>• API Gateway HTTP Authorizer validating token claims.</a:t>
            </a:r>
          </a:p>
          <a:p>
            <a:pPr>
              <a:spcBef>
                <a:spcPts val="300"/>
              </a:spcBef>
              <a:defRPr sz="1000">
                <a:solidFill>
                  <a:srgbClr val="F8FAFC"/>
                </a:solidFill>
              </a:defRPr>
            </a:pPr>
            <a:r>
              <a:t>• Multi-Factor Authentication (MFA) &amp; self-service password recovery.</a:t>
            </a:r>
          </a:p>
          <a:p>
            <a:pPr>
              <a:spcBef>
                <a:spcPts val="300"/>
              </a:spcBef>
              <a:defRPr sz="1000">
                <a:solidFill>
                  <a:srgbClr val="F8FAFC"/>
                </a:solidFill>
              </a:defRPr>
            </a:pPr>
            <a:r>
              <a:t>• Fine-grained RBAC with IAM group scoping.</a:t>
            </a:r>
          </a:p>
        </p:txBody>
      </p:sp>
      <p:sp>
        <p:nvSpPr>
          <p:cNvPr id="5" name="Rounded Rectangle 4"/>
          <p:cNvSpPr/>
          <p:nvPr/>
        </p:nvSpPr>
        <p:spPr>
          <a:xfrm>
            <a:off x="6217920" y="1463040"/>
            <a:ext cx="5242255" cy="2286000"/>
          </a:xfrm>
          <a:prstGeom prst="roundRect">
            <a:avLst/>
          </a:prstGeom>
          <a:solidFill>
            <a:srgbClr val="18181B"/>
          </a:solidFill>
          <a:ln w="19050">
            <a:solidFill>
              <a:srgbClr val="CA8A04"/>
            </a:solidFill>
          </a:ln>
        </p:spPr>
        <p:style>
          <a:lnRef idx="1">
            <a:schemeClr val="accent1"/>
          </a:lnRef>
          <a:fillRef idx="3">
            <a:schemeClr val="accent1"/>
          </a:fillRef>
          <a:effectRef idx="2">
            <a:schemeClr val="accent1"/>
          </a:effectRef>
          <a:fontRef idx="minor">
            <a:schemeClr val="lt1"/>
          </a:fontRef>
        </p:style>
        <p:txBody>
          <a:bodyPr rtlCol="0" anchor="ctr" wrap="square" tIns="164592" lIns="228600"/>
          <a:lstStyle/>
          <a:p>
            <a:pPr algn="ctr">
              <a:defRPr sz="1300" b="1">
                <a:solidFill>
                  <a:srgbClr val="FACC15"/>
                </a:solidFill>
              </a:defRPr>
            </a:pPr>
            <a:r>
              <a:t>2. Interactive Web Dashboard &amp; CDN</a:t>
            </a:r>
          </a:p>
          <a:p>
            <a:pPr>
              <a:spcBef>
                <a:spcPts val="300"/>
              </a:spcBef>
              <a:defRPr sz="1000">
                <a:solidFill>
                  <a:srgbClr val="F8FAFC"/>
                </a:solidFill>
              </a:defRPr>
            </a:pPr>
            <a:r>
              <a:t>• React / Next.js web portal for operators.</a:t>
            </a:r>
          </a:p>
          <a:p>
            <a:pPr>
              <a:spcBef>
                <a:spcPts val="300"/>
              </a:spcBef>
              <a:defRPr sz="1000">
                <a:solidFill>
                  <a:srgbClr val="F8FAFC"/>
                </a:solidFill>
              </a:defRPr>
            </a:pPr>
            <a:r>
              <a:t>• Static hosting on Amazon S3 with Amazon CloudFront CDN edge caching.</a:t>
            </a:r>
          </a:p>
          <a:p>
            <a:pPr>
              <a:spcBef>
                <a:spcPts val="300"/>
              </a:spcBef>
              <a:defRPr sz="1000">
                <a:solidFill>
                  <a:srgbClr val="F8FAFC"/>
                </a:solidFill>
              </a:defRPr>
            </a:pPr>
            <a:r>
              <a:t>• Real-time sensor graphs, live floor plans, and interactive threshold configuration.</a:t>
            </a:r>
          </a:p>
          <a:p>
            <a:pPr>
              <a:spcBef>
                <a:spcPts val="300"/>
              </a:spcBef>
              <a:defRPr sz="1000">
                <a:solidFill>
                  <a:srgbClr val="F8FAFC"/>
                </a:solidFill>
              </a:defRPr>
            </a:pPr>
            <a:r>
              <a:t>• API Gateway WebSockets for instant push updates.</a:t>
            </a:r>
          </a:p>
        </p:txBody>
      </p:sp>
      <p:sp>
        <p:nvSpPr>
          <p:cNvPr id="6" name="Rounded Rectangle 5"/>
          <p:cNvSpPr/>
          <p:nvPr/>
        </p:nvSpPr>
        <p:spPr>
          <a:xfrm>
            <a:off x="731520" y="3931920"/>
            <a:ext cx="5242255" cy="2286000"/>
          </a:xfrm>
          <a:prstGeom prst="roundRect">
            <a:avLst/>
          </a:prstGeom>
          <a:solidFill>
            <a:srgbClr val="18181B"/>
          </a:solidFill>
          <a:ln w="19050">
            <a:solidFill>
              <a:srgbClr val="CA8A04"/>
            </a:solidFill>
          </a:ln>
        </p:spPr>
        <p:style>
          <a:lnRef idx="1">
            <a:schemeClr val="accent1"/>
          </a:lnRef>
          <a:fillRef idx="3">
            <a:schemeClr val="accent1"/>
          </a:fillRef>
          <a:effectRef idx="2">
            <a:schemeClr val="accent1"/>
          </a:effectRef>
          <a:fontRef idx="minor">
            <a:schemeClr val="lt1"/>
          </a:fontRef>
        </p:style>
        <p:txBody>
          <a:bodyPr rtlCol="0" anchor="ctr" wrap="square" tIns="164592" lIns="228600"/>
          <a:lstStyle/>
          <a:p>
            <a:pPr algn="ctr">
              <a:defRPr sz="1300" b="1">
                <a:solidFill>
                  <a:srgbClr val="FACC15"/>
                </a:solidFill>
              </a:defRPr>
            </a:pPr>
            <a:r>
              <a:t>3. Network Isolation &amp; Secret Security</a:t>
            </a:r>
          </a:p>
          <a:p>
            <a:pPr>
              <a:spcBef>
                <a:spcPts val="300"/>
              </a:spcBef>
              <a:defRPr sz="1000">
                <a:solidFill>
                  <a:srgbClr val="F8FAFC"/>
                </a:solidFill>
              </a:defRPr>
            </a:pPr>
            <a:r>
              <a:t>• Enclose Lambda in Amazon VPC private subnets.</a:t>
            </a:r>
          </a:p>
          <a:p>
            <a:pPr>
              <a:spcBef>
                <a:spcPts val="300"/>
              </a:spcBef>
              <a:defRPr sz="1000">
                <a:solidFill>
                  <a:srgbClr val="F8FAFC"/>
                </a:solidFill>
              </a:defRPr>
            </a:pPr>
            <a:r>
              <a:t>• VPC Gateway Endpoints to route DynamoDB traffic privately without public internet traversal.</a:t>
            </a:r>
          </a:p>
          <a:p>
            <a:pPr>
              <a:spcBef>
                <a:spcPts val="300"/>
              </a:spcBef>
              <a:defRPr sz="1000">
                <a:solidFill>
                  <a:srgbClr val="F8FAFC"/>
                </a:solidFill>
              </a:defRPr>
            </a:pPr>
            <a:r>
              <a:t>• AWS Secrets Manager for automatic credential rotation.</a:t>
            </a:r>
          </a:p>
          <a:p>
            <a:pPr>
              <a:spcBef>
                <a:spcPts val="300"/>
              </a:spcBef>
              <a:defRPr sz="1000">
                <a:solidFill>
                  <a:srgbClr val="F8FAFC"/>
                </a:solidFill>
              </a:defRPr>
            </a:pPr>
            <a:r>
              <a:t>• AWS WAF attached to API Gateway for DDoS &amp; injection defense.</a:t>
            </a:r>
          </a:p>
        </p:txBody>
      </p:sp>
      <p:sp>
        <p:nvSpPr>
          <p:cNvPr id="7" name="Rounded Rectangle 6"/>
          <p:cNvSpPr/>
          <p:nvPr/>
        </p:nvSpPr>
        <p:spPr>
          <a:xfrm>
            <a:off x="6217920" y="3931920"/>
            <a:ext cx="5242255" cy="2286000"/>
          </a:xfrm>
          <a:prstGeom prst="roundRect">
            <a:avLst/>
          </a:prstGeom>
          <a:solidFill>
            <a:srgbClr val="18181B"/>
          </a:solidFill>
          <a:ln w="19050">
            <a:solidFill>
              <a:srgbClr val="CA8A04"/>
            </a:solidFill>
          </a:ln>
        </p:spPr>
        <p:style>
          <a:lnRef idx="1">
            <a:schemeClr val="accent1"/>
          </a:lnRef>
          <a:fillRef idx="3">
            <a:schemeClr val="accent1"/>
          </a:fillRef>
          <a:effectRef idx="2">
            <a:schemeClr val="accent1"/>
          </a:effectRef>
          <a:fontRef idx="minor">
            <a:schemeClr val="lt1"/>
          </a:fontRef>
        </p:style>
        <p:txBody>
          <a:bodyPr rtlCol="0" anchor="ctr" wrap="square" tIns="164592" lIns="228600"/>
          <a:lstStyle/>
          <a:p>
            <a:pPr algn="ctr">
              <a:defRPr sz="1300" b="1">
                <a:solidFill>
                  <a:srgbClr val="FACC15"/>
                </a:solidFill>
              </a:defRPr>
            </a:pPr>
            <a:r>
              <a:t>4. Automated Disaster Recovery &amp; Push Alerts</a:t>
            </a:r>
          </a:p>
          <a:p>
            <a:pPr>
              <a:spcBef>
                <a:spcPts val="300"/>
              </a:spcBef>
              <a:defRPr sz="1000">
                <a:solidFill>
                  <a:srgbClr val="F8FAFC"/>
                </a:solidFill>
              </a:defRPr>
            </a:pPr>
            <a:r>
              <a:t>• Enable DynamoDB Point-in-Time Recovery (PITR) with continuous backups.</a:t>
            </a:r>
          </a:p>
          <a:p>
            <a:pPr>
              <a:spcBef>
                <a:spcPts val="300"/>
              </a:spcBef>
              <a:defRPr sz="1000">
                <a:solidFill>
                  <a:srgbClr val="F8FAFC"/>
                </a:solidFill>
              </a:defRPr>
            </a:pPr>
            <a:r>
              <a:t>• Scheduled AWS Backup plans with cross-region replication for RPO &lt; 15 min.</a:t>
            </a:r>
          </a:p>
          <a:p>
            <a:pPr>
              <a:spcBef>
                <a:spcPts val="300"/>
              </a:spcBef>
              <a:defRPr sz="1000">
                <a:solidFill>
                  <a:srgbClr val="F8FAFC"/>
                </a:solidFill>
              </a:defRPr>
            </a:pPr>
            <a:r>
              <a:t>• Amazon CloudWatch Metric Alarms triggering Amazon SNS.</a:t>
            </a:r>
          </a:p>
          <a:p>
            <a:pPr>
              <a:spcBef>
                <a:spcPts val="300"/>
              </a:spcBef>
              <a:defRPr sz="1000">
                <a:solidFill>
                  <a:srgbClr val="F8FAFC"/>
                </a:solidFill>
              </a:defRPr>
            </a:pPr>
            <a:r>
              <a:t>• Instant SMS and email notifications to maintenance crews.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lIns="0" tIns="0" rIns="0" bIns="0">
            <a:spAutoFit/>
          </a:bodyPr>
          <a:lstStyle/>
          <a:p>
            <a:pPr>
              <a:defRPr sz="2400" b="1">
                <a:solidFill>
                  <a:srgbClr val="F8FAFC"/>
                </a:solidFill>
              </a:defRPr>
            </a:pPr>
            <a:r>
              <a:t>8. Conclusion &amp; Live Demonstration Plan</a:t>
            </a:r>
          </a:p>
          <a:p>
            <a:pPr>
              <a:defRPr sz="1100">
                <a:solidFill>
                  <a:srgbClr val="38BDF8"/>
                </a:solidFill>
              </a:defRPr>
            </a:pPr>
            <a:r>
              <a:t>CampusPulse 2026 | AWS eu-west-3 (Paris)</a:t>
            </a:r>
          </a:p>
        </p:txBody>
      </p:sp>
      <p:sp>
        <p:nvSpPr>
          <p:cNvPr id="4" name="Rounded Rectangle 3"/>
          <p:cNvSpPr/>
          <p:nvPr/>
        </p:nvSpPr>
        <p:spPr>
          <a:xfrm>
            <a:off x="731520" y="1463040"/>
            <a:ext cx="5120640" cy="47548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a:lstStyle/>
          <a:p>
            <a:pPr algn="ctr">
              <a:defRPr sz="1600" b="1">
                <a:solidFill>
                  <a:srgbClr val="4ADE80"/>
                </a:solidFill>
              </a:defRPr>
            </a:pPr>
            <a:r>
              <a:t>Project Summary &amp; Key Takeaways</a:t>
            </a:r>
          </a:p>
          <a:p>
            <a:pPr>
              <a:spcBef>
                <a:spcPts val="800"/>
              </a:spcBef>
              <a:defRPr sz="1150" b="1">
                <a:solidFill>
                  <a:srgbClr val="38BDF8"/>
                </a:solidFill>
              </a:defRPr>
            </a:pPr>
            <a:r>
              <a:t>Delivered Serverless Architecture</a:t>
            </a:r>
          </a:p>
          <a:p>
            <a:pPr>
              <a:defRPr sz="1050">
                <a:solidFill>
                  <a:srgbClr val="F8FAFC"/>
                </a:solidFill>
              </a:defRPr>
            </a:pPr>
            <a:r>
              <a:t>Successfully deployed a working cloud monitoring pipeline on AWS eu-west-3 using SAM, API Gateway, Lambda, and DynamoDB.</a:t>
            </a:r>
          </a:p>
          <a:p>
            <a:pPr>
              <a:spcBef>
                <a:spcPts val="800"/>
              </a:spcBef>
              <a:defRPr sz="1150" b="1">
                <a:solidFill>
                  <a:srgbClr val="38BDF8"/>
                </a:solidFill>
              </a:defRPr>
            </a:pPr>
            <a:r>
              <a:t>Empirical Reliability</a:t>
            </a:r>
          </a:p>
          <a:p>
            <a:pPr>
              <a:defRPr sz="1050">
                <a:solidFill>
                  <a:srgbClr val="F8FAFC"/>
                </a:solidFill>
              </a:defRPr>
            </a:pPr>
            <a:r>
              <a:t>Passed 6 unit tests; validated end-to-end data flow with 4 live ingested events; confirmed threshold alerting and cross-room aggregation.</a:t>
            </a:r>
          </a:p>
          <a:p>
            <a:pPr>
              <a:spcBef>
                <a:spcPts val="800"/>
              </a:spcBef>
              <a:defRPr sz="1150" b="1">
                <a:solidFill>
                  <a:srgbClr val="38BDF8"/>
                </a:solidFill>
              </a:defRPr>
            </a:pPr>
            <a:r>
              <a:t>Architectural Honesty</a:t>
            </a:r>
          </a:p>
          <a:p>
            <a:pPr>
              <a:defRPr sz="1050">
                <a:solidFill>
                  <a:srgbClr val="F8FAFC"/>
                </a:solidFill>
              </a:defRPr>
            </a:pPr>
            <a:r>
              <a:t>Documented exact operational boundaries; avoided inflating claims; clearly separated live components from future proposed additions.</a:t>
            </a:r>
          </a:p>
          <a:p>
            <a:pPr>
              <a:spcBef>
                <a:spcPts val="800"/>
              </a:spcBef>
              <a:defRPr sz="1150" b="1">
                <a:solidFill>
                  <a:srgbClr val="38BDF8"/>
                </a:solidFill>
              </a:defRPr>
            </a:pPr>
            <a:r>
              <a:t>Cost &amp; Operational Discipline</a:t>
            </a:r>
          </a:p>
          <a:p>
            <a:pPr>
              <a:defRPr sz="1050">
                <a:solidFill>
                  <a:srgbClr val="F8FAFC"/>
                </a:solidFill>
              </a:defRPr>
            </a:pPr>
            <a:r>
              <a:t>Operated strictly within Free Tier parameters; monitored CloudWatch logs; established budget safety.</a:t>
            </a:r>
          </a:p>
        </p:txBody>
      </p:sp>
      <p:sp>
        <p:nvSpPr>
          <p:cNvPr id="5" name="Rounded Rectangle 4"/>
          <p:cNvSpPr/>
          <p:nvPr/>
        </p:nvSpPr>
        <p:spPr>
          <a:xfrm>
            <a:off x="6217920" y="1463040"/>
            <a:ext cx="5242255" cy="47548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tIns="274320" lIns="274320"/>
          <a:lstStyle/>
          <a:p>
            <a:pPr algn="ctr">
              <a:defRPr sz="1600" b="1">
                <a:solidFill>
                  <a:srgbClr val="F97316"/>
                </a:solidFill>
              </a:defRPr>
            </a:pPr>
            <a:r>
              <a:t>10-Minute Live Demo Sequence</a:t>
            </a:r>
          </a:p>
          <a:p>
            <a:pPr>
              <a:spcBef>
                <a:spcPts val="600"/>
              </a:spcBef>
              <a:defRPr sz="1150" b="1">
                <a:solidFill>
                  <a:srgbClr val="FACC15"/>
                </a:solidFill>
              </a:defRPr>
            </a:pPr>
            <a:r>
              <a:t>Step 1: Health Check (15s)</a:t>
            </a:r>
          </a:p>
          <a:p>
            <a:pPr>
              <a:defRPr sz="1000">
                <a:solidFill>
                  <a:srgbClr val="F8FAFC"/>
                </a:solidFill>
              </a:defRPr>
            </a:pPr>
            <a:r>
              <a:t>GET /health -&gt; Verified HTTP 200 {'status': 'ok', 'service': 'CampusPulse 2026'}.</a:t>
            </a:r>
          </a:p>
          <a:p>
            <a:pPr>
              <a:spcBef>
                <a:spcPts val="600"/>
              </a:spcBef>
              <a:defRPr sz="1150" b="1">
                <a:solidFill>
                  <a:srgbClr val="FACC15"/>
                </a:solidFill>
              </a:defRPr>
            </a:pPr>
            <a:r>
              <a:t>Step 2: Authentication &amp; Token (20s)</a:t>
            </a:r>
          </a:p>
          <a:p>
            <a:pPr>
              <a:defRPr sz="1000">
                <a:solidFill>
                  <a:srgbClr val="F8FAFC"/>
                </a:solidFill>
              </a:defRPr>
            </a:pPr>
            <a:r>
              <a:t>POST /login -&gt; Returns bearer token for Operator/Admin.</a:t>
            </a:r>
          </a:p>
          <a:p>
            <a:pPr>
              <a:spcBef>
                <a:spcPts val="600"/>
              </a:spcBef>
              <a:defRPr sz="1150" b="1">
                <a:solidFill>
                  <a:srgbClr val="FACC15"/>
                </a:solidFill>
              </a:defRPr>
            </a:pPr>
            <a:r>
              <a:t>Step 3: Stored Events Inspection (25s)</a:t>
            </a:r>
          </a:p>
          <a:p>
            <a:pPr>
              <a:defRPr sz="1000">
                <a:solidFill>
                  <a:srgbClr val="F8FAFC"/>
                </a:solidFill>
              </a:defRPr>
            </a:pPr>
            <a:r>
              <a:t>GET /events -&gt; Displays 5 live records across Library-A, Engineering, and Building A.</a:t>
            </a:r>
          </a:p>
          <a:p>
            <a:pPr>
              <a:spcBef>
                <a:spcPts val="600"/>
              </a:spcBef>
              <a:defRPr sz="1150" b="1">
                <a:solidFill>
                  <a:srgbClr val="FACC15"/>
                </a:solidFill>
              </a:defRPr>
            </a:pPr>
            <a:r>
              <a:t>Step 4: Real-Time Stats (25s)</a:t>
            </a:r>
          </a:p>
          <a:p>
            <a:pPr>
              <a:defRPr sz="1000">
                <a:solidFill>
                  <a:srgbClr val="F8FAFC"/>
                </a:solidFill>
              </a:defRPr>
            </a:pPr>
            <a:r>
              <a:t>GET /stats -&gt; Displays aggregated count: 5 events, 180 occupancy, 18.5 kWh energy, 3 alerts.</a:t>
            </a:r>
          </a:p>
          <a:p>
            <a:pPr>
              <a:spcBef>
                <a:spcPts val="600"/>
              </a:spcBef>
              <a:defRPr sz="1150" b="1">
                <a:solidFill>
                  <a:srgbClr val="FACC15"/>
                </a:solidFill>
              </a:defRPr>
            </a:pPr>
            <a:r>
              <a:t>Step 5: Alert Trigger Verification (25s)</a:t>
            </a:r>
          </a:p>
          <a:p>
            <a:pPr>
              <a:defRPr sz="1000">
                <a:solidFill>
                  <a:srgbClr val="F8FAFC"/>
                </a:solidFill>
              </a:defRPr>
            </a:pPr>
            <a:r>
              <a:t>GET /alerts -&gt; Displays the 3 abnormal readings (occupancy 95 &amp; 85, temp 38°C).</a:t>
            </a:r>
          </a:p>
          <a:p>
            <a:pPr>
              <a:spcBef>
                <a:spcPts val="600"/>
              </a:spcBef>
              <a:defRPr sz="1150" b="1">
                <a:solidFill>
                  <a:srgbClr val="FACC15"/>
                </a:solidFill>
              </a:defRPr>
            </a:pPr>
            <a:r>
              <a:t>Step 6: Observability (15s)</a:t>
            </a:r>
          </a:p>
          <a:p>
            <a:pPr>
              <a:defRPr sz="1000">
                <a:solidFill>
                  <a:srgbClr val="F8FAFC"/>
                </a:solidFill>
              </a:defRPr>
            </a:pPr>
            <a:r>
              <a:t>CloudWatch Logs -&gt; Show real-time Lambda execution stream.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